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9" r:id="rId4"/>
    <p:sldId id="260" r:id="rId5"/>
    <p:sldId id="258" r:id="rId6"/>
    <p:sldId id="261" r:id="rId7"/>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94"/>
  </p:normalViewPr>
  <p:slideViewPr>
    <p:cSldViewPr snapToGrid="0">
      <p:cViewPr varScale="1">
        <p:scale>
          <a:sx n="121" d="100"/>
          <a:sy n="121" d="100"/>
        </p:scale>
        <p:origin x="22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A9AC25-E91C-934E-993E-C96E165C06BE}" type="datetimeFigureOut">
              <a:rPr lang="pl-PL" smtClean="0"/>
              <a:t>8.04.2026</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435D70-9F4B-C24B-B80D-E8E33E6C652B}" type="slidenum">
              <a:rPr lang="pl-PL" smtClean="0"/>
              <a:t>‹#›</a:t>
            </a:fld>
            <a:endParaRPr lang="pl-PL"/>
          </a:p>
        </p:txBody>
      </p:sp>
    </p:spTree>
    <p:extLst>
      <p:ext uri="{BB962C8B-B14F-4D97-AF65-F5344CB8AC3E}">
        <p14:creationId xmlns:p14="http://schemas.microsoft.com/office/powerpoint/2010/main" val="1443490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E7435D70-9F4B-C24B-B80D-E8E33E6C652B}" type="slidenum">
              <a:rPr lang="pl-PL" smtClean="0"/>
              <a:t>2</a:t>
            </a:fld>
            <a:endParaRPr lang="pl-PL"/>
          </a:p>
        </p:txBody>
      </p:sp>
    </p:spTree>
    <p:extLst>
      <p:ext uri="{BB962C8B-B14F-4D97-AF65-F5344CB8AC3E}">
        <p14:creationId xmlns:p14="http://schemas.microsoft.com/office/powerpoint/2010/main" val="13584055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FFEE089-D73B-771F-653F-1AF52DE28EE9}"/>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a:extLst>
              <a:ext uri="{FF2B5EF4-FFF2-40B4-BE49-F238E27FC236}">
                <a16:creationId xmlns:a16="http://schemas.microsoft.com/office/drawing/2014/main" id="{B6B42B1A-7043-683C-2F0E-D52455FA8E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a:extLst>
              <a:ext uri="{FF2B5EF4-FFF2-40B4-BE49-F238E27FC236}">
                <a16:creationId xmlns:a16="http://schemas.microsoft.com/office/drawing/2014/main" id="{65540368-B9D6-E42B-2413-30DB19C38297}"/>
              </a:ext>
            </a:extLst>
          </p:cNvPr>
          <p:cNvSpPr>
            <a:spLocks noGrp="1"/>
          </p:cNvSpPr>
          <p:nvPr>
            <p:ph type="dt" sz="half" idx="10"/>
          </p:nvPr>
        </p:nvSpPr>
        <p:spPr/>
        <p:txBody>
          <a:bodyPr/>
          <a:lstStyle/>
          <a:p>
            <a:fld id="{704E364D-C2E4-C845-8A5A-63B025DFB8D3}" type="datetimeFigureOut">
              <a:rPr lang="pl-PL" smtClean="0"/>
              <a:t>8.04.2026</a:t>
            </a:fld>
            <a:endParaRPr lang="pl-PL"/>
          </a:p>
        </p:txBody>
      </p:sp>
      <p:sp>
        <p:nvSpPr>
          <p:cNvPr id="5" name="Symbol zastępczy stopki 4">
            <a:extLst>
              <a:ext uri="{FF2B5EF4-FFF2-40B4-BE49-F238E27FC236}">
                <a16:creationId xmlns:a16="http://schemas.microsoft.com/office/drawing/2014/main" id="{1B75A3AF-4814-B3FD-83FD-8CE44E201FD4}"/>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C4808E22-7254-FEC2-9A6F-A27C1099ED7D}"/>
              </a:ext>
            </a:extLst>
          </p:cNvPr>
          <p:cNvSpPr>
            <a:spLocks noGrp="1"/>
          </p:cNvSpPr>
          <p:nvPr>
            <p:ph type="sldNum" sz="quarter" idx="12"/>
          </p:nvPr>
        </p:nvSpPr>
        <p:spPr/>
        <p:txBody>
          <a:bodyPr/>
          <a:lstStyle/>
          <a:p>
            <a:fld id="{3EBADF3F-4006-2B4B-8693-7D69E464D2B5}" type="slidenum">
              <a:rPr lang="pl-PL" smtClean="0"/>
              <a:t>‹#›</a:t>
            </a:fld>
            <a:endParaRPr lang="pl-PL"/>
          </a:p>
        </p:txBody>
      </p:sp>
    </p:spTree>
    <p:extLst>
      <p:ext uri="{BB962C8B-B14F-4D97-AF65-F5344CB8AC3E}">
        <p14:creationId xmlns:p14="http://schemas.microsoft.com/office/powerpoint/2010/main" val="2416818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90A586E-9C06-40B0-86ED-C995817953B6}"/>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CEE4BE68-FCE8-D8FF-871B-27EFA2BCC86C}"/>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6F8941F3-7B5B-DBBA-465E-0E5DC03024FD}"/>
              </a:ext>
            </a:extLst>
          </p:cNvPr>
          <p:cNvSpPr>
            <a:spLocks noGrp="1"/>
          </p:cNvSpPr>
          <p:nvPr>
            <p:ph type="dt" sz="half" idx="10"/>
          </p:nvPr>
        </p:nvSpPr>
        <p:spPr/>
        <p:txBody>
          <a:bodyPr/>
          <a:lstStyle/>
          <a:p>
            <a:fld id="{704E364D-C2E4-C845-8A5A-63B025DFB8D3}" type="datetimeFigureOut">
              <a:rPr lang="pl-PL" smtClean="0"/>
              <a:t>8.04.2026</a:t>
            </a:fld>
            <a:endParaRPr lang="pl-PL"/>
          </a:p>
        </p:txBody>
      </p:sp>
      <p:sp>
        <p:nvSpPr>
          <p:cNvPr id="5" name="Symbol zastępczy stopki 4">
            <a:extLst>
              <a:ext uri="{FF2B5EF4-FFF2-40B4-BE49-F238E27FC236}">
                <a16:creationId xmlns:a16="http://schemas.microsoft.com/office/drawing/2014/main" id="{5AD15155-D5C5-4096-4CA3-5733885F3194}"/>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E2B03EE7-811C-C7EF-E0FA-250EE23163B9}"/>
              </a:ext>
            </a:extLst>
          </p:cNvPr>
          <p:cNvSpPr>
            <a:spLocks noGrp="1"/>
          </p:cNvSpPr>
          <p:nvPr>
            <p:ph type="sldNum" sz="quarter" idx="12"/>
          </p:nvPr>
        </p:nvSpPr>
        <p:spPr/>
        <p:txBody>
          <a:bodyPr/>
          <a:lstStyle/>
          <a:p>
            <a:fld id="{3EBADF3F-4006-2B4B-8693-7D69E464D2B5}" type="slidenum">
              <a:rPr lang="pl-PL" smtClean="0"/>
              <a:t>‹#›</a:t>
            </a:fld>
            <a:endParaRPr lang="pl-PL"/>
          </a:p>
        </p:txBody>
      </p:sp>
    </p:spTree>
    <p:extLst>
      <p:ext uri="{BB962C8B-B14F-4D97-AF65-F5344CB8AC3E}">
        <p14:creationId xmlns:p14="http://schemas.microsoft.com/office/powerpoint/2010/main" val="3915569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80CF32B-BCCC-9D10-96D8-4142E78136A8}"/>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a:extLst>
              <a:ext uri="{FF2B5EF4-FFF2-40B4-BE49-F238E27FC236}">
                <a16:creationId xmlns:a16="http://schemas.microsoft.com/office/drawing/2014/main" id="{A6AA516B-3194-EDCB-5948-1C7B2D432E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FE8DE47E-A58A-CB59-9CC0-6826543CD660}"/>
              </a:ext>
            </a:extLst>
          </p:cNvPr>
          <p:cNvSpPr>
            <a:spLocks noGrp="1"/>
          </p:cNvSpPr>
          <p:nvPr>
            <p:ph type="dt" sz="half" idx="10"/>
          </p:nvPr>
        </p:nvSpPr>
        <p:spPr/>
        <p:txBody>
          <a:bodyPr/>
          <a:lstStyle/>
          <a:p>
            <a:fld id="{704E364D-C2E4-C845-8A5A-63B025DFB8D3}" type="datetimeFigureOut">
              <a:rPr lang="pl-PL" smtClean="0"/>
              <a:t>8.04.2026</a:t>
            </a:fld>
            <a:endParaRPr lang="pl-PL"/>
          </a:p>
        </p:txBody>
      </p:sp>
      <p:sp>
        <p:nvSpPr>
          <p:cNvPr id="5" name="Symbol zastępczy stopki 4">
            <a:extLst>
              <a:ext uri="{FF2B5EF4-FFF2-40B4-BE49-F238E27FC236}">
                <a16:creationId xmlns:a16="http://schemas.microsoft.com/office/drawing/2014/main" id="{65A1C817-9320-9964-AD81-18DA790C7DFB}"/>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EA1699E9-B043-42A6-30AD-684C18BECC63}"/>
              </a:ext>
            </a:extLst>
          </p:cNvPr>
          <p:cNvSpPr>
            <a:spLocks noGrp="1"/>
          </p:cNvSpPr>
          <p:nvPr>
            <p:ph type="sldNum" sz="quarter" idx="12"/>
          </p:nvPr>
        </p:nvSpPr>
        <p:spPr/>
        <p:txBody>
          <a:bodyPr/>
          <a:lstStyle/>
          <a:p>
            <a:fld id="{3EBADF3F-4006-2B4B-8693-7D69E464D2B5}" type="slidenum">
              <a:rPr lang="pl-PL" smtClean="0"/>
              <a:t>‹#›</a:t>
            </a:fld>
            <a:endParaRPr lang="pl-PL"/>
          </a:p>
        </p:txBody>
      </p:sp>
    </p:spTree>
    <p:extLst>
      <p:ext uri="{BB962C8B-B14F-4D97-AF65-F5344CB8AC3E}">
        <p14:creationId xmlns:p14="http://schemas.microsoft.com/office/powerpoint/2010/main" val="1401968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3F7A397-2285-6DCF-1E1C-CA27982EAF0E}"/>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2B7087BC-6EAA-C7C2-2B8F-5DE6B3276ECC}"/>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a:extLst>
              <a:ext uri="{FF2B5EF4-FFF2-40B4-BE49-F238E27FC236}">
                <a16:creationId xmlns:a16="http://schemas.microsoft.com/office/drawing/2014/main" id="{0E96224F-FDE3-B02E-B1A1-740722F3A2BD}"/>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a:extLst>
              <a:ext uri="{FF2B5EF4-FFF2-40B4-BE49-F238E27FC236}">
                <a16:creationId xmlns:a16="http://schemas.microsoft.com/office/drawing/2014/main" id="{5B1C2050-56CC-9BF7-65A2-70BC3A4E1054}"/>
              </a:ext>
            </a:extLst>
          </p:cNvPr>
          <p:cNvSpPr>
            <a:spLocks noGrp="1"/>
          </p:cNvSpPr>
          <p:nvPr>
            <p:ph type="dt" sz="half" idx="10"/>
          </p:nvPr>
        </p:nvSpPr>
        <p:spPr/>
        <p:txBody>
          <a:bodyPr/>
          <a:lstStyle/>
          <a:p>
            <a:fld id="{704E364D-C2E4-C845-8A5A-63B025DFB8D3}" type="datetimeFigureOut">
              <a:rPr lang="pl-PL" smtClean="0"/>
              <a:t>8.04.2026</a:t>
            </a:fld>
            <a:endParaRPr lang="pl-PL"/>
          </a:p>
        </p:txBody>
      </p:sp>
      <p:sp>
        <p:nvSpPr>
          <p:cNvPr id="6" name="Symbol zastępczy stopki 5">
            <a:extLst>
              <a:ext uri="{FF2B5EF4-FFF2-40B4-BE49-F238E27FC236}">
                <a16:creationId xmlns:a16="http://schemas.microsoft.com/office/drawing/2014/main" id="{DA717729-8E27-1D6C-2A8B-4DE6E229E58B}"/>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5A7DFAAC-9CB9-0D24-BABF-E533FB075BC9}"/>
              </a:ext>
            </a:extLst>
          </p:cNvPr>
          <p:cNvSpPr>
            <a:spLocks noGrp="1"/>
          </p:cNvSpPr>
          <p:nvPr>
            <p:ph type="sldNum" sz="quarter" idx="12"/>
          </p:nvPr>
        </p:nvSpPr>
        <p:spPr/>
        <p:txBody>
          <a:bodyPr/>
          <a:lstStyle/>
          <a:p>
            <a:fld id="{3EBADF3F-4006-2B4B-8693-7D69E464D2B5}" type="slidenum">
              <a:rPr lang="pl-PL" smtClean="0"/>
              <a:t>‹#›</a:t>
            </a:fld>
            <a:endParaRPr lang="pl-PL"/>
          </a:p>
        </p:txBody>
      </p:sp>
    </p:spTree>
    <p:extLst>
      <p:ext uri="{BB962C8B-B14F-4D97-AF65-F5344CB8AC3E}">
        <p14:creationId xmlns:p14="http://schemas.microsoft.com/office/powerpoint/2010/main" val="3811868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B6BDA91-3A8E-D0AD-3535-765E3E02DC99}"/>
              </a:ext>
            </a:extLst>
          </p:cNvPr>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a:extLst>
              <a:ext uri="{FF2B5EF4-FFF2-40B4-BE49-F238E27FC236}">
                <a16:creationId xmlns:a16="http://schemas.microsoft.com/office/drawing/2014/main" id="{1610D6BE-6348-322E-7CF2-926C246A78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20B87711-A960-FAF5-FE58-982198E9B00D}"/>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a:extLst>
              <a:ext uri="{FF2B5EF4-FFF2-40B4-BE49-F238E27FC236}">
                <a16:creationId xmlns:a16="http://schemas.microsoft.com/office/drawing/2014/main" id="{EA1287D1-1B75-A419-C10F-CB85BF287B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A43C198E-62DE-B9E2-3609-6E8B3E125C50}"/>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a:extLst>
              <a:ext uri="{FF2B5EF4-FFF2-40B4-BE49-F238E27FC236}">
                <a16:creationId xmlns:a16="http://schemas.microsoft.com/office/drawing/2014/main" id="{AA98BC1B-9830-A9D5-3618-CEC19FD3C3BD}"/>
              </a:ext>
            </a:extLst>
          </p:cNvPr>
          <p:cNvSpPr>
            <a:spLocks noGrp="1"/>
          </p:cNvSpPr>
          <p:nvPr>
            <p:ph type="dt" sz="half" idx="10"/>
          </p:nvPr>
        </p:nvSpPr>
        <p:spPr/>
        <p:txBody>
          <a:bodyPr/>
          <a:lstStyle/>
          <a:p>
            <a:fld id="{704E364D-C2E4-C845-8A5A-63B025DFB8D3}" type="datetimeFigureOut">
              <a:rPr lang="pl-PL" smtClean="0"/>
              <a:t>8.04.2026</a:t>
            </a:fld>
            <a:endParaRPr lang="pl-PL"/>
          </a:p>
        </p:txBody>
      </p:sp>
      <p:sp>
        <p:nvSpPr>
          <p:cNvPr id="8" name="Symbol zastępczy stopki 7">
            <a:extLst>
              <a:ext uri="{FF2B5EF4-FFF2-40B4-BE49-F238E27FC236}">
                <a16:creationId xmlns:a16="http://schemas.microsoft.com/office/drawing/2014/main" id="{B2DDB3A9-AED8-B21D-819D-986C4E98D8D5}"/>
              </a:ext>
            </a:extLst>
          </p:cNvPr>
          <p:cNvSpPr>
            <a:spLocks noGrp="1"/>
          </p:cNvSpPr>
          <p:nvPr>
            <p:ph type="ftr" sz="quarter" idx="11"/>
          </p:nvPr>
        </p:nvSpPr>
        <p:spPr/>
        <p:txBody>
          <a:bodyPr/>
          <a:lstStyle/>
          <a:p>
            <a:endParaRPr lang="pl-PL"/>
          </a:p>
        </p:txBody>
      </p:sp>
      <p:sp>
        <p:nvSpPr>
          <p:cNvPr id="9" name="Symbol zastępczy numeru slajdu 8">
            <a:extLst>
              <a:ext uri="{FF2B5EF4-FFF2-40B4-BE49-F238E27FC236}">
                <a16:creationId xmlns:a16="http://schemas.microsoft.com/office/drawing/2014/main" id="{8E22C359-49E2-0F53-4F11-805999CD09EA}"/>
              </a:ext>
            </a:extLst>
          </p:cNvPr>
          <p:cNvSpPr>
            <a:spLocks noGrp="1"/>
          </p:cNvSpPr>
          <p:nvPr>
            <p:ph type="sldNum" sz="quarter" idx="12"/>
          </p:nvPr>
        </p:nvSpPr>
        <p:spPr/>
        <p:txBody>
          <a:bodyPr/>
          <a:lstStyle/>
          <a:p>
            <a:fld id="{3EBADF3F-4006-2B4B-8693-7D69E464D2B5}" type="slidenum">
              <a:rPr lang="pl-PL" smtClean="0"/>
              <a:t>‹#›</a:t>
            </a:fld>
            <a:endParaRPr lang="pl-PL"/>
          </a:p>
        </p:txBody>
      </p:sp>
    </p:spTree>
    <p:extLst>
      <p:ext uri="{BB962C8B-B14F-4D97-AF65-F5344CB8AC3E}">
        <p14:creationId xmlns:p14="http://schemas.microsoft.com/office/powerpoint/2010/main" val="2551377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2899631-EC52-C967-B057-8006EE8C24B5}"/>
              </a:ext>
            </a:extLst>
          </p:cNvPr>
          <p:cNvSpPr>
            <a:spLocks noGrp="1"/>
          </p:cNvSpPr>
          <p:nvPr>
            <p:ph type="title"/>
          </p:nvPr>
        </p:nvSpPr>
        <p:spPr/>
        <p:txBody>
          <a:bodyPr/>
          <a:lstStyle/>
          <a:p>
            <a:r>
              <a:rPr lang="pl-PL"/>
              <a:t>Kliknij, aby edytować styl</a:t>
            </a:r>
          </a:p>
        </p:txBody>
      </p:sp>
      <p:sp>
        <p:nvSpPr>
          <p:cNvPr id="3" name="Symbol zastępczy daty 2">
            <a:extLst>
              <a:ext uri="{FF2B5EF4-FFF2-40B4-BE49-F238E27FC236}">
                <a16:creationId xmlns:a16="http://schemas.microsoft.com/office/drawing/2014/main" id="{880D7AB8-5196-6AD8-9CC2-C8CD8EB2122A}"/>
              </a:ext>
            </a:extLst>
          </p:cNvPr>
          <p:cNvSpPr>
            <a:spLocks noGrp="1"/>
          </p:cNvSpPr>
          <p:nvPr>
            <p:ph type="dt" sz="half" idx="10"/>
          </p:nvPr>
        </p:nvSpPr>
        <p:spPr/>
        <p:txBody>
          <a:bodyPr/>
          <a:lstStyle/>
          <a:p>
            <a:fld id="{704E364D-C2E4-C845-8A5A-63B025DFB8D3}" type="datetimeFigureOut">
              <a:rPr lang="pl-PL" smtClean="0"/>
              <a:t>8.04.2026</a:t>
            </a:fld>
            <a:endParaRPr lang="pl-PL"/>
          </a:p>
        </p:txBody>
      </p:sp>
      <p:sp>
        <p:nvSpPr>
          <p:cNvPr id="4" name="Symbol zastępczy stopki 3">
            <a:extLst>
              <a:ext uri="{FF2B5EF4-FFF2-40B4-BE49-F238E27FC236}">
                <a16:creationId xmlns:a16="http://schemas.microsoft.com/office/drawing/2014/main" id="{0E68DB9C-C4E0-2A88-4D7F-A5E88971EA55}"/>
              </a:ext>
            </a:extLst>
          </p:cNvPr>
          <p:cNvSpPr>
            <a:spLocks noGrp="1"/>
          </p:cNvSpPr>
          <p:nvPr>
            <p:ph type="ftr" sz="quarter" idx="11"/>
          </p:nvPr>
        </p:nvSpPr>
        <p:spPr/>
        <p:txBody>
          <a:bodyPr/>
          <a:lstStyle/>
          <a:p>
            <a:endParaRPr lang="pl-PL"/>
          </a:p>
        </p:txBody>
      </p:sp>
      <p:sp>
        <p:nvSpPr>
          <p:cNvPr id="5" name="Symbol zastępczy numeru slajdu 4">
            <a:extLst>
              <a:ext uri="{FF2B5EF4-FFF2-40B4-BE49-F238E27FC236}">
                <a16:creationId xmlns:a16="http://schemas.microsoft.com/office/drawing/2014/main" id="{071B3A2E-082A-844C-C183-3536C26744BD}"/>
              </a:ext>
            </a:extLst>
          </p:cNvPr>
          <p:cNvSpPr>
            <a:spLocks noGrp="1"/>
          </p:cNvSpPr>
          <p:nvPr>
            <p:ph type="sldNum" sz="quarter" idx="12"/>
          </p:nvPr>
        </p:nvSpPr>
        <p:spPr/>
        <p:txBody>
          <a:bodyPr/>
          <a:lstStyle/>
          <a:p>
            <a:fld id="{3EBADF3F-4006-2B4B-8693-7D69E464D2B5}" type="slidenum">
              <a:rPr lang="pl-PL" smtClean="0"/>
              <a:t>‹#›</a:t>
            </a:fld>
            <a:endParaRPr lang="pl-PL"/>
          </a:p>
        </p:txBody>
      </p:sp>
    </p:spTree>
    <p:extLst>
      <p:ext uri="{BB962C8B-B14F-4D97-AF65-F5344CB8AC3E}">
        <p14:creationId xmlns:p14="http://schemas.microsoft.com/office/powerpoint/2010/main" val="1707270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01A46FAE-64D0-4E53-70D2-FD20397E8D71}"/>
              </a:ext>
            </a:extLst>
          </p:cNvPr>
          <p:cNvSpPr>
            <a:spLocks noGrp="1"/>
          </p:cNvSpPr>
          <p:nvPr>
            <p:ph type="dt" sz="half" idx="10"/>
          </p:nvPr>
        </p:nvSpPr>
        <p:spPr/>
        <p:txBody>
          <a:bodyPr/>
          <a:lstStyle/>
          <a:p>
            <a:fld id="{704E364D-C2E4-C845-8A5A-63B025DFB8D3}" type="datetimeFigureOut">
              <a:rPr lang="pl-PL" smtClean="0"/>
              <a:t>8.04.2026</a:t>
            </a:fld>
            <a:endParaRPr lang="pl-PL"/>
          </a:p>
        </p:txBody>
      </p:sp>
      <p:sp>
        <p:nvSpPr>
          <p:cNvPr id="3" name="Symbol zastępczy stopki 2">
            <a:extLst>
              <a:ext uri="{FF2B5EF4-FFF2-40B4-BE49-F238E27FC236}">
                <a16:creationId xmlns:a16="http://schemas.microsoft.com/office/drawing/2014/main" id="{95696A17-7703-EFC2-24BE-75CC46CCEDA3}"/>
              </a:ext>
            </a:extLst>
          </p:cNvPr>
          <p:cNvSpPr>
            <a:spLocks noGrp="1"/>
          </p:cNvSpPr>
          <p:nvPr>
            <p:ph type="ftr" sz="quarter" idx="11"/>
          </p:nvPr>
        </p:nvSpPr>
        <p:spPr/>
        <p:txBody>
          <a:bodyPr/>
          <a:lstStyle/>
          <a:p>
            <a:endParaRPr lang="pl-PL"/>
          </a:p>
        </p:txBody>
      </p:sp>
      <p:sp>
        <p:nvSpPr>
          <p:cNvPr id="4" name="Symbol zastępczy numeru slajdu 3">
            <a:extLst>
              <a:ext uri="{FF2B5EF4-FFF2-40B4-BE49-F238E27FC236}">
                <a16:creationId xmlns:a16="http://schemas.microsoft.com/office/drawing/2014/main" id="{F966A140-E871-BC74-983B-D71C798CA740}"/>
              </a:ext>
            </a:extLst>
          </p:cNvPr>
          <p:cNvSpPr>
            <a:spLocks noGrp="1"/>
          </p:cNvSpPr>
          <p:nvPr>
            <p:ph type="sldNum" sz="quarter" idx="12"/>
          </p:nvPr>
        </p:nvSpPr>
        <p:spPr/>
        <p:txBody>
          <a:bodyPr/>
          <a:lstStyle/>
          <a:p>
            <a:fld id="{3EBADF3F-4006-2B4B-8693-7D69E464D2B5}" type="slidenum">
              <a:rPr lang="pl-PL" smtClean="0"/>
              <a:t>‹#›</a:t>
            </a:fld>
            <a:endParaRPr lang="pl-PL"/>
          </a:p>
        </p:txBody>
      </p:sp>
    </p:spTree>
    <p:extLst>
      <p:ext uri="{BB962C8B-B14F-4D97-AF65-F5344CB8AC3E}">
        <p14:creationId xmlns:p14="http://schemas.microsoft.com/office/powerpoint/2010/main" val="1819596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3F54C03-9CB6-940C-8922-82B22946D27C}"/>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a:extLst>
              <a:ext uri="{FF2B5EF4-FFF2-40B4-BE49-F238E27FC236}">
                <a16:creationId xmlns:a16="http://schemas.microsoft.com/office/drawing/2014/main" id="{86C79660-D50D-AA48-E8BF-87330E71D7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a:extLst>
              <a:ext uri="{FF2B5EF4-FFF2-40B4-BE49-F238E27FC236}">
                <a16:creationId xmlns:a16="http://schemas.microsoft.com/office/drawing/2014/main" id="{D05B43EE-EAEB-0F92-BD3F-872852F051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F208B8DF-8308-65FC-ACF9-3487B2859BAB}"/>
              </a:ext>
            </a:extLst>
          </p:cNvPr>
          <p:cNvSpPr>
            <a:spLocks noGrp="1"/>
          </p:cNvSpPr>
          <p:nvPr>
            <p:ph type="dt" sz="half" idx="10"/>
          </p:nvPr>
        </p:nvSpPr>
        <p:spPr/>
        <p:txBody>
          <a:bodyPr/>
          <a:lstStyle/>
          <a:p>
            <a:fld id="{704E364D-C2E4-C845-8A5A-63B025DFB8D3}" type="datetimeFigureOut">
              <a:rPr lang="pl-PL" smtClean="0"/>
              <a:t>8.04.2026</a:t>
            </a:fld>
            <a:endParaRPr lang="pl-PL"/>
          </a:p>
        </p:txBody>
      </p:sp>
      <p:sp>
        <p:nvSpPr>
          <p:cNvPr id="6" name="Symbol zastępczy stopki 5">
            <a:extLst>
              <a:ext uri="{FF2B5EF4-FFF2-40B4-BE49-F238E27FC236}">
                <a16:creationId xmlns:a16="http://schemas.microsoft.com/office/drawing/2014/main" id="{1E297E58-52A2-F567-1742-42CF5FA7CAEC}"/>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D34D1FA5-A50D-0127-9849-BF34E2057481}"/>
              </a:ext>
            </a:extLst>
          </p:cNvPr>
          <p:cNvSpPr>
            <a:spLocks noGrp="1"/>
          </p:cNvSpPr>
          <p:nvPr>
            <p:ph type="sldNum" sz="quarter" idx="12"/>
          </p:nvPr>
        </p:nvSpPr>
        <p:spPr/>
        <p:txBody>
          <a:bodyPr/>
          <a:lstStyle/>
          <a:p>
            <a:fld id="{3EBADF3F-4006-2B4B-8693-7D69E464D2B5}" type="slidenum">
              <a:rPr lang="pl-PL" smtClean="0"/>
              <a:t>‹#›</a:t>
            </a:fld>
            <a:endParaRPr lang="pl-PL"/>
          </a:p>
        </p:txBody>
      </p:sp>
    </p:spTree>
    <p:extLst>
      <p:ext uri="{BB962C8B-B14F-4D97-AF65-F5344CB8AC3E}">
        <p14:creationId xmlns:p14="http://schemas.microsoft.com/office/powerpoint/2010/main" val="3466490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A0D054-E155-41A7-8314-3F8E06A99DD5}"/>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a:extLst>
              <a:ext uri="{FF2B5EF4-FFF2-40B4-BE49-F238E27FC236}">
                <a16:creationId xmlns:a16="http://schemas.microsoft.com/office/drawing/2014/main" id="{DAEAA2E8-109E-8769-E5D7-4DED11DAE4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a:extLst>
              <a:ext uri="{FF2B5EF4-FFF2-40B4-BE49-F238E27FC236}">
                <a16:creationId xmlns:a16="http://schemas.microsoft.com/office/drawing/2014/main" id="{9A321D5B-657C-24BD-03B2-0D9A03A08F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ADFF67EB-EA8B-7690-C575-E6C5B3C8871C}"/>
              </a:ext>
            </a:extLst>
          </p:cNvPr>
          <p:cNvSpPr>
            <a:spLocks noGrp="1"/>
          </p:cNvSpPr>
          <p:nvPr>
            <p:ph type="dt" sz="half" idx="10"/>
          </p:nvPr>
        </p:nvSpPr>
        <p:spPr/>
        <p:txBody>
          <a:bodyPr/>
          <a:lstStyle/>
          <a:p>
            <a:fld id="{704E364D-C2E4-C845-8A5A-63B025DFB8D3}" type="datetimeFigureOut">
              <a:rPr lang="pl-PL" smtClean="0"/>
              <a:t>8.04.2026</a:t>
            </a:fld>
            <a:endParaRPr lang="pl-PL"/>
          </a:p>
        </p:txBody>
      </p:sp>
      <p:sp>
        <p:nvSpPr>
          <p:cNvPr id="6" name="Symbol zastępczy stopki 5">
            <a:extLst>
              <a:ext uri="{FF2B5EF4-FFF2-40B4-BE49-F238E27FC236}">
                <a16:creationId xmlns:a16="http://schemas.microsoft.com/office/drawing/2014/main" id="{F8C77AF2-C12F-1E01-9305-5A492CEE1BC0}"/>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030B863F-75EF-CF07-993D-D6572FFEE0E2}"/>
              </a:ext>
            </a:extLst>
          </p:cNvPr>
          <p:cNvSpPr>
            <a:spLocks noGrp="1"/>
          </p:cNvSpPr>
          <p:nvPr>
            <p:ph type="sldNum" sz="quarter" idx="12"/>
          </p:nvPr>
        </p:nvSpPr>
        <p:spPr/>
        <p:txBody>
          <a:bodyPr/>
          <a:lstStyle/>
          <a:p>
            <a:fld id="{3EBADF3F-4006-2B4B-8693-7D69E464D2B5}" type="slidenum">
              <a:rPr lang="pl-PL" smtClean="0"/>
              <a:t>‹#›</a:t>
            </a:fld>
            <a:endParaRPr lang="pl-PL"/>
          </a:p>
        </p:txBody>
      </p:sp>
    </p:spTree>
    <p:extLst>
      <p:ext uri="{BB962C8B-B14F-4D97-AF65-F5344CB8AC3E}">
        <p14:creationId xmlns:p14="http://schemas.microsoft.com/office/powerpoint/2010/main" val="2149946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82D2B41-AFBD-A735-DBAB-9E2EE32A8119}"/>
              </a:ext>
            </a:extLst>
          </p:cNvPr>
          <p:cNvSpPr>
            <a:spLocks noGrp="1"/>
          </p:cNvSpPr>
          <p:nvPr>
            <p:ph type="title"/>
          </p:nvPr>
        </p:nvSpPr>
        <p:spPr/>
        <p:txBody>
          <a:bodyPr/>
          <a:lstStyle/>
          <a:p>
            <a:r>
              <a:rPr lang="pl-PL"/>
              <a:t>Kliknij, aby edytować styl</a:t>
            </a:r>
          </a:p>
        </p:txBody>
      </p:sp>
      <p:sp>
        <p:nvSpPr>
          <p:cNvPr id="3" name="Symbol zastępczy tytułu pionowego 2">
            <a:extLst>
              <a:ext uri="{FF2B5EF4-FFF2-40B4-BE49-F238E27FC236}">
                <a16:creationId xmlns:a16="http://schemas.microsoft.com/office/drawing/2014/main" id="{640F3708-4396-9A2A-1C7A-8841BAE706E8}"/>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D74CDAE8-7FA7-D108-C0E0-DDE71CCFFB54}"/>
              </a:ext>
            </a:extLst>
          </p:cNvPr>
          <p:cNvSpPr>
            <a:spLocks noGrp="1"/>
          </p:cNvSpPr>
          <p:nvPr>
            <p:ph type="dt" sz="half" idx="10"/>
          </p:nvPr>
        </p:nvSpPr>
        <p:spPr/>
        <p:txBody>
          <a:bodyPr/>
          <a:lstStyle/>
          <a:p>
            <a:fld id="{704E364D-C2E4-C845-8A5A-63B025DFB8D3}" type="datetimeFigureOut">
              <a:rPr lang="pl-PL" smtClean="0"/>
              <a:t>8.04.2026</a:t>
            </a:fld>
            <a:endParaRPr lang="pl-PL"/>
          </a:p>
        </p:txBody>
      </p:sp>
      <p:sp>
        <p:nvSpPr>
          <p:cNvPr id="5" name="Symbol zastępczy stopki 4">
            <a:extLst>
              <a:ext uri="{FF2B5EF4-FFF2-40B4-BE49-F238E27FC236}">
                <a16:creationId xmlns:a16="http://schemas.microsoft.com/office/drawing/2014/main" id="{11552BE4-138A-7D09-31AA-5F8C15723162}"/>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CF70F42D-78E9-DBD6-6DD3-6D2790199ECB}"/>
              </a:ext>
            </a:extLst>
          </p:cNvPr>
          <p:cNvSpPr>
            <a:spLocks noGrp="1"/>
          </p:cNvSpPr>
          <p:nvPr>
            <p:ph type="sldNum" sz="quarter" idx="12"/>
          </p:nvPr>
        </p:nvSpPr>
        <p:spPr/>
        <p:txBody>
          <a:bodyPr/>
          <a:lstStyle/>
          <a:p>
            <a:fld id="{3EBADF3F-4006-2B4B-8693-7D69E464D2B5}" type="slidenum">
              <a:rPr lang="pl-PL" smtClean="0"/>
              <a:t>‹#›</a:t>
            </a:fld>
            <a:endParaRPr lang="pl-PL"/>
          </a:p>
        </p:txBody>
      </p:sp>
    </p:spTree>
    <p:extLst>
      <p:ext uri="{BB962C8B-B14F-4D97-AF65-F5344CB8AC3E}">
        <p14:creationId xmlns:p14="http://schemas.microsoft.com/office/powerpoint/2010/main" val="2812637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ABA32CE4-ED39-8A67-2120-14D00032294D}"/>
              </a:ext>
            </a:extLst>
          </p:cNvPr>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a:extLst>
              <a:ext uri="{FF2B5EF4-FFF2-40B4-BE49-F238E27FC236}">
                <a16:creationId xmlns:a16="http://schemas.microsoft.com/office/drawing/2014/main" id="{F9DCCAEF-4594-A7F0-F3FA-DC1C1FB6F785}"/>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FA95FC42-07DC-ECF4-71D8-6ADAF20595CE}"/>
              </a:ext>
            </a:extLst>
          </p:cNvPr>
          <p:cNvSpPr>
            <a:spLocks noGrp="1"/>
          </p:cNvSpPr>
          <p:nvPr>
            <p:ph type="dt" sz="half" idx="10"/>
          </p:nvPr>
        </p:nvSpPr>
        <p:spPr/>
        <p:txBody>
          <a:bodyPr/>
          <a:lstStyle/>
          <a:p>
            <a:fld id="{704E364D-C2E4-C845-8A5A-63B025DFB8D3}" type="datetimeFigureOut">
              <a:rPr lang="pl-PL" smtClean="0"/>
              <a:t>8.04.2026</a:t>
            </a:fld>
            <a:endParaRPr lang="pl-PL"/>
          </a:p>
        </p:txBody>
      </p:sp>
      <p:sp>
        <p:nvSpPr>
          <p:cNvPr id="5" name="Symbol zastępczy stopki 4">
            <a:extLst>
              <a:ext uri="{FF2B5EF4-FFF2-40B4-BE49-F238E27FC236}">
                <a16:creationId xmlns:a16="http://schemas.microsoft.com/office/drawing/2014/main" id="{57E7293E-D2E1-0DDA-A278-798CB0E5F68A}"/>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6AFD2FFA-BB9A-BBB8-7351-9C221E0361A2}"/>
              </a:ext>
            </a:extLst>
          </p:cNvPr>
          <p:cNvSpPr>
            <a:spLocks noGrp="1"/>
          </p:cNvSpPr>
          <p:nvPr>
            <p:ph type="sldNum" sz="quarter" idx="12"/>
          </p:nvPr>
        </p:nvSpPr>
        <p:spPr/>
        <p:txBody>
          <a:bodyPr/>
          <a:lstStyle/>
          <a:p>
            <a:fld id="{3EBADF3F-4006-2B4B-8693-7D69E464D2B5}" type="slidenum">
              <a:rPr lang="pl-PL" smtClean="0"/>
              <a:t>‹#›</a:t>
            </a:fld>
            <a:endParaRPr lang="pl-PL"/>
          </a:p>
        </p:txBody>
      </p:sp>
    </p:spTree>
    <p:extLst>
      <p:ext uri="{BB962C8B-B14F-4D97-AF65-F5344CB8AC3E}">
        <p14:creationId xmlns:p14="http://schemas.microsoft.com/office/powerpoint/2010/main" val="3112614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B326835C-9EE2-4C28-8C61-546A1698C9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a:extLst>
              <a:ext uri="{FF2B5EF4-FFF2-40B4-BE49-F238E27FC236}">
                <a16:creationId xmlns:a16="http://schemas.microsoft.com/office/drawing/2014/main" id="{02B84D12-1176-AAAF-CA5E-9436BA4D74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F7BDCBAC-4DDB-671C-1BAB-94EBF0D777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4E364D-C2E4-C845-8A5A-63B025DFB8D3}" type="datetimeFigureOut">
              <a:rPr lang="pl-PL" smtClean="0"/>
              <a:t>8.04.2026</a:t>
            </a:fld>
            <a:endParaRPr lang="pl-PL"/>
          </a:p>
        </p:txBody>
      </p:sp>
      <p:sp>
        <p:nvSpPr>
          <p:cNvPr id="5" name="Symbol zastępczy stopki 4">
            <a:extLst>
              <a:ext uri="{FF2B5EF4-FFF2-40B4-BE49-F238E27FC236}">
                <a16:creationId xmlns:a16="http://schemas.microsoft.com/office/drawing/2014/main" id="{F1AB5A25-330A-BFE7-DD17-0C0D276ACC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l-PL"/>
          </a:p>
        </p:txBody>
      </p:sp>
      <p:sp>
        <p:nvSpPr>
          <p:cNvPr id="6" name="Symbol zastępczy numeru slajdu 5">
            <a:extLst>
              <a:ext uri="{FF2B5EF4-FFF2-40B4-BE49-F238E27FC236}">
                <a16:creationId xmlns:a16="http://schemas.microsoft.com/office/drawing/2014/main" id="{0ECE9718-FD93-8D1D-6818-414943E2DA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BADF3F-4006-2B4B-8693-7D69E464D2B5}" type="slidenum">
              <a:rPr lang="pl-PL" smtClean="0"/>
              <a:t>‹#›</a:t>
            </a:fld>
            <a:endParaRPr lang="pl-PL"/>
          </a:p>
        </p:txBody>
      </p:sp>
    </p:spTree>
    <p:extLst>
      <p:ext uri="{BB962C8B-B14F-4D97-AF65-F5344CB8AC3E}">
        <p14:creationId xmlns:p14="http://schemas.microsoft.com/office/powerpoint/2010/main" val="192694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B866C90-F1D8-6D85-261D-938D2802C223}"/>
              </a:ext>
            </a:extLst>
          </p:cNvPr>
          <p:cNvSpPr>
            <a:spLocks noGrp="1"/>
          </p:cNvSpPr>
          <p:nvPr>
            <p:ph type="ctrTitle"/>
          </p:nvPr>
        </p:nvSpPr>
        <p:spPr/>
        <p:txBody>
          <a:bodyPr/>
          <a:lstStyle/>
          <a:p>
            <a:r>
              <a:rPr lang="pl-PL" dirty="0" err="1"/>
              <a:t>Homework</a:t>
            </a:r>
            <a:r>
              <a:rPr lang="pl-PL" dirty="0"/>
              <a:t> 1 </a:t>
            </a:r>
          </a:p>
        </p:txBody>
      </p:sp>
      <p:sp>
        <p:nvSpPr>
          <p:cNvPr id="3" name="Podtytuł 2">
            <a:extLst>
              <a:ext uri="{FF2B5EF4-FFF2-40B4-BE49-F238E27FC236}">
                <a16:creationId xmlns:a16="http://schemas.microsoft.com/office/drawing/2014/main" id="{3A1460E4-883F-7521-309E-8863E3C9229D}"/>
              </a:ext>
            </a:extLst>
          </p:cNvPr>
          <p:cNvSpPr>
            <a:spLocks noGrp="1"/>
          </p:cNvSpPr>
          <p:nvPr>
            <p:ph type="subTitle" idx="1"/>
          </p:nvPr>
        </p:nvSpPr>
        <p:spPr/>
        <p:txBody>
          <a:bodyPr/>
          <a:lstStyle/>
          <a:p>
            <a:r>
              <a:rPr lang="pl-PL" dirty="0" err="1"/>
              <a:t>Titanic</a:t>
            </a:r>
            <a:r>
              <a:rPr lang="pl-PL" dirty="0"/>
              <a:t> </a:t>
            </a:r>
            <a:r>
              <a:rPr lang="pl-PL" dirty="0" err="1"/>
              <a:t>disaster</a:t>
            </a:r>
            <a:r>
              <a:rPr lang="pl-PL" dirty="0"/>
              <a:t> </a:t>
            </a:r>
            <a:r>
              <a:rPr lang="pl-PL" dirty="0" err="1"/>
              <a:t>analysis</a:t>
            </a:r>
            <a:endParaRPr lang="pl-PL" dirty="0"/>
          </a:p>
        </p:txBody>
      </p:sp>
    </p:spTree>
    <p:extLst>
      <p:ext uri="{BB962C8B-B14F-4D97-AF65-F5344CB8AC3E}">
        <p14:creationId xmlns:p14="http://schemas.microsoft.com/office/powerpoint/2010/main" val="3402234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7539CBD-F424-D2CE-B002-14C4A482FE33}"/>
              </a:ext>
            </a:extLst>
          </p:cNvPr>
          <p:cNvSpPr>
            <a:spLocks noGrp="1"/>
          </p:cNvSpPr>
          <p:nvPr>
            <p:ph type="title"/>
          </p:nvPr>
        </p:nvSpPr>
        <p:spPr>
          <a:xfrm>
            <a:off x="838200" y="800993"/>
            <a:ext cx="3687491" cy="1594189"/>
          </a:xfrm>
        </p:spPr>
        <p:txBody>
          <a:bodyPr vert="horz" lIns="91440" tIns="45720" rIns="91440" bIns="45720" rtlCol="0" anchor="t">
            <a:normAutofit/>
          </a:bodyPr>
          <a:lstStyle/>
          <a:p>
            <a:r>
              <a:rPr lang="en-US" sz="3200" dirty="0"/>
              <a:t>The Family Size Paradox: Were families safer? </a:t>
            </a:r>
          </a:p>
        </p:txBody>
      </p:sp>
      <p:sp>
        <p:nvSpPr>
          <p:cNvPr id="7" name="pole tekstowe 6">
            <a:extLst>
              <a:ext uri="{FF2B5EF4-FFF2-40B4-BE49-F238E27FC236}">
                <a16:creationId xmlns:a16="http://schemas.microsoft.com/office/drawing/2014/main" id="{F109EC6F-2C3C-9E02-2B9C-0D747ED7BC2D}"/>
              </a:ext>
            </a:extLst>
          </p:cNvPr>
          <p:cNvSpPr txBox="1"/>
          <p:nvPr/>
        </p:nvSpPr>
        <p:spPr>
          <a:xfrm>
            <a:off x="5341546" y="751555"/>
            <a:ext cx="6012254" cy="176645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300" b="1" dirty="0"/>
              <a:t>The Solo Risk:</a:t>
            </a:r>
            <a:r>
              <a:rPr lang="en-US" sz="1300" dirty="0"/>
              <a:t> Over 60% of passengers traveled alone, but they faced a low ~30% survival rate.</a:t>
            </a:r>
          </a:p>
          <a:p>
            <a:pPr indent="-228600">
              <a:lnSpc>
                <a:spcPct val="90000"/>
              </a:lnSpc>
              <a:spcAft>
                <a:spcPts val="600"/>
              </a:spcAft>
              <a:buFont typeface="Arial" panose="020B0604020202020204" pitchFamily="34" charset="0"/>
              <a:buChar char="•"/>
            </a:pPr>
            <a:r>
              <a:rPr lang="en-US" sz="1300" b="1" dirty="0"/>
              <a:t>The "Sweet Spot":</a:t>
            </a:r>
            <a:r>
              <a:rPr lang="en-US" sz="1300" dirty="0"/>
              <a:t> Small families (2-4 people) had the highest survivability at </a:t>
            </a:r>
            <a:r>
              <a:rPr lang="en-US" sz="1300" b="1" dirty="0"/>
              <a:t>57%</a:t>
            </a:r>
            <a:r>
              <a:rPr lang="en-US" sz="1300" dirty="0"/>
              <a:t>.</a:t>
            </a:r>
          </a:p>
          <a:p>
            <a:pPr indent="-228600">
              <a:lnSpc>
                <a:spcPct val="90000"/>
              </a:lnSpc>
              <a:spcAft>
                <a:spcPts val="600"/>
              </a:spcAft>
              <a:buFont typeface="Arial" panose="020B0604020202020204" pitchFamily="34" charset="0"/>
              <a:buChar char="•"/>
            </a:pPr>
            <a:r>
              <a:rPr lang="en-US" sz="1300" b="1" dirty="0"/>
              <a:t> The Large Family Trap:</a:t>
            </a:r>
            <a:r>
              <a:rPr lang="en-US" sz="1300" dirty="0"/>
              <a:t> Survival plummeted to </a:t>
            </a:r>
            <a:r>
              <a:rPr lang="en-US" sz="1300" b="1" dirty="0"/>
              <a:t>16%</a:t>
            </a:r>
            <a:r>
              <a:rPr lang="en-US" sz="1300" dirty="0"/>
              <a:t> for families of 5 or more.</a:t>
            </a:r>
          </a:p>
          <a:p>
            <a:pPr indent="-228600">
              <a:lnSpc>
                <a:spcPct val="90000"/>
              </a:lnSpc>
              <a:spcAft>
                <a:spcPts val="600"/>
              </a:spcAft>
              <a:buFont typeface="Arial" panose="020B0604020202020204" pitchFamily="34" charset="0"/>
              <a:buChar char="•"/>
            </a:pPr>
            <a:r>
              <a:rPr lang="en-US" sz="1300" b="1" dirty="0"/>
              <a:t> Statistical Certainty:</a:t>
            </a:r>
            <a:r>
              <a:rPr lang="en-US" sz="1300" dirty="0"/>
              <a:t> 95% Confidence Intervals confirm this is a ship-wide trend, not a small-sample fluke.</a:t>
            </a:r>
          </a:p>
          <a:p>
            <a:pPr indent="-228600">
              <a:lnSpc>
                <a:spcPct val="90000"/>
              </a:lnSpc>
              <a:spcAft>
                <a:spcPts val="600"/>
              </a:spcAft>
              <a:buFont typeface="Arial" panose="020B0604020202020204" pitchFamily="34" charset="0"/>
              <a:buChar char="•"/>
            </a:pPr>
            <a:endParaRPr lang="en-US" sz="1300" dirty="0"/>
          </a:p>
        </p:txBody>
      </p:sp>
      <p:pic>
        <p:nvPicPr>
          <p:cNvPr id="5" name="Symbol zastępczy zawartości 4" descr="Obraz zawierający tekst, diagram, linia, Wykres&#10;&#10;Opis wygenerowany automatycznie">
            <a:extLst>
              <a:ext uri="{FF2B5EF4-FFF2-40B4-BE49-F238E27FC236}">
                <a16:creationId xmlns:a16="http://schemas.microsoft.com/office/drawing/2014/main" id="{E12CF0A0-A40E-2183-35D5-6F023B192328}"/>
              </a:ext>
            </a:extLst>
          </p:cNvPr>
          <p:cNvPicPr>
            <a:picLocks noGrp="1" noChangeAspect="1"/>
          </p:cNvPicPr>
          <p:nvPr>
            <p:ph idx="1"/>
          </p:nvPr>
        </p:nvPicPr>
        <p:blipFill>
          <a:blip r:embed="rId3"/>
          <a:srcRect t="16643"/>
          <a:stretch>
            <a:fillRect/>
          </a:stretch>
        </p:blipFill>
        <p:spPr>
          <a:xfrm>
            <a:off x="0" y="2818263"/>
            <a:ext cx="12192000" cy="3796092"/>
          </a:xfrm>
          <a:prstGeom prst="rect">
            <a:avLst/>
          </a:prstGeom>
        </p:spPr>
      </p:pic>
      <p:grpSp>
        <p:nvGrpSpPr>
          <p:cNvPr id="12" name="Group 11">
            <a:extLst>
              <a:ext uri="{FF2B5EF4-FFF2-40B4-BE49-F238E27FC236}">
                <a16:creationId xmlns:a16="http://schemas.microsoft.com/office/drawing/2014/main" id="{F2221BB3-7B5D-C899-7745-66D7AC3232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3" name="Rectangle 12">
              <a:extLst>
                <a:ext uri="{FF2B5EF4-FFF2-40B4-BE49-F238E27FC236}">
                  <a16:creationId xmlns:a16="http://schemas.microsoft.com/office/drawing/2014/main" id="{3FD2D571-38D7-DB0F-166C-14FEDA700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88AEF72-50CD-C201-F6BF-C595BBBED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34871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9F3FFE37-F609-473B-BD54-081FA5042A5A}"/>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r>
              <a:rPr lang="en-US" sz="3400" kern="1200" dirty="0">
                <a:solidFill>
                  <a:schemeClr val="tx1"/>
                </a:solidFill>
                <a:latin typeface="+mj-lt"/>
                <a:ea typeface="+mj-ea"/>
                <a:cs typeface="+mj-cs"/>
              </a:rPr>
              <a:t>Survival heavily favored small, agile groups. Solo travelers lacked help and faced a low 30% survival rate, while massive families acted as fatal anchors, perishing together when they couldn't find enough lifeboat seats. The absolute "sweet spot" for survival was a small family of two to four people.</a:t>
            </a:r>
          </a:p>
        </p:txBody>
      </p:sp>
      <p:cxnSp>
        <p:nvCxnSpPr>
          <p:cNvPr id="13" name="Straight Connector 1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5296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EC3EFBD4-3F20-61AA-22EA-9CD2A0FC59F6}"/>
              </a:ext>
            </a:extLst>
          </p:cNvPr>
          <p:cNvSpPr>
            <a:spLocks noGrp="1"/>
          </p:cNvSpPr>
          <p:nvPr>
            <p:ph type="title"/>
          </p:nvPr>
        </p:nvSpPr>
        <p:spPr>
          <a:xfrm>
            <a:off x="803499" y="1997612"/>
            <a:ext cx="4614478" cy="4037428"/>
          </a:xfrm>
        </p:spPr>
        <p:txBody>
          <a:bodyPr vert="horz" lIns="91440" tIns="45720" rIns="91440" bIns="45720" rtlCol="0" anchor="t">
            <a:normAutofit/>
          </a:bodyPr>
          <a:lstStyle/>
          <a:p>
            <a:r>
              <a:rPr lang="en-US" sz="2800" b="1" kern="1200" dirty="0">
                <a:solidFill>
                  <a:schemeClr val="tx1"/>
                </a:solidFill>
                <a:latin typeface="+mj-lt"/>
                <a:ea typeface="+mj-ea"/>
                <a:cs typeface="+mj-cs"/>
              </a:rPr>
              <a:t>Socioeconomic Status and its impact. </a:t>
            </a:r>
            <a:br>
              <a:rPr lang="en-US" sz="2800" b="1" kern="1200" dirty="0">
                <a:solidFill>
                  <a:schemeClr val="tx1"/>
                </a:solidFill>
                <a:latin typeface="+mj-lt"/>
                <a:ea typeface="+mj-ea"/>
                <a:cs typeface="+mj-cs"/>
              </a:rPr>
            </a:br>
            <a:br>
              <a:rPr lang="en-US" sz="2800" b="1" kern="1200" dirty="0">
                <a:solidFill>
                  <a:schemeClr val="tx1"/>
                </a:solidFill>
                <a:latin typeface="+mj-lt"/>
                <a:ea typeface="+mj-ea"/>
                <a:cs typeface="+mj-cs"/>
              </a:rPr>
            </a:br>
            <a:r>
              <a:rPr lang="en-US" sz="2800" b="1" kern="1200" dirty="0">
                <a:solidFill>
                  <a:schemeClr val="tx1"/>
                </a:solidFill>
                <a:latin typeface="+mj-lt"/>
                <a:ea typeface="+mj-ea"/>
                <a:cs typeface="+mj-cs"/>
              </a:rPr>
              <a:t>Hypothesis: Higher class means higher survivability.</a:t>
            </a:r>
            <a:br>
              <a:rPr lang="en-US" sz="1400" kern="1200" dirty="0">
                <a:solidFill>
                  <a:schemeClr val="tx1"/>
                </a:solidFill>
                <a:latin typeface="+mj-lt"/>
                <a:ea typeface="+mj-ea"/>
                <a:cs typeface="+mj-cs"/>
              </a:rPr>
            </a:br>
            <a:br>
              <a:rPr lang="en-US" sz="1400" kern="1200" dirty="0">
                <a:solidFill>
                  <a:schemeClr val="tx1"/>
                </a:solidFill>
                <a:latin typeface="+mj-lt"/>
                <a:ea typeface="+mj-ea"/>
                <a:cs typeface="+mj-cs"/>
              </a:rPr>
            </a:br>
            <a:br>
              <a:rPr lang="en-US" sz="1400" kern="1200" dirty="0">
                <a:solidFill>
                  <a:schemeClr val="tx1"/>
                </a:solidFill>
                <a:latin typeface="+mj-lt"/>
                <a:ea typeface="+mj-ea"/>
                <a:cs typeface="+mj-cs"/>
              </a:rPr>
            </a:br>
            <a:r>
              <a:rPr lang="en-US" sz="1400" kern="1200" dirty="0">
                <a:solidFill>
                  <a:schemeClr val="tx1"/>
                </a:solidFill>
                <a:latin typeface="+mj-lt"/>
                <a:ea typeface="+mj-ea"/>
                <a:cs typeface="+mj-cs"/>
              </a:rPr>
              <a:t>- </a:t>
            </a:r>
            <a:r>
              <a:rPr lang="en-US" sz="1400" b="1" kern="1200" dirty="0">
                <a:solidFill>
                  <a:schemeClr val="tx1"/>
                </a:solidFill>
                <a:latin typeface="+mj-lt"/>
                <a:ea typeface="+mj-ea"/>
                <a:cs typeface="+mj-cs"/>
              </a:rPr>
              <a:t>The Baseline:</a:t>
            </a:r>
            <a:r>
              <a:rPr lang="en-US" sz="1400" kern="1200" dirty="0">
                <a:solidFill>
                  <a:schemeClr val="tx1"/>
                </a:solidFill>
                <a:latin typeface="+mj-lt"/>
                <a:ea typeface="+mj-ea"/>
                <a:cs typeface="+mj-cs"/>
              </a:rPr>
              <a:t> Survival favored the wealthy. 1st-class survival (63%) was nearly triple the rate of 3rd-class survival (24%).</a:t>
            </a:r>
            <a:br>
              <a:rPr lang="en-US" sz="1400" kern="1200" dirty="0">
                <a:solidFill>
                  <a:schemeClr val="tx1"/>
                </a:solidFill>
                <a:latin typeface="+mj-lt"/>
                <a:ea typeface="+mj-ea"/>
                <a:cs typeface="+mj-cs"/>
              </a:rPr>
            </a:br>
            <a:r>
              <a:rPr lang="en-US" sz="1400" kern="1200" dirty="0">
                <a:solidFill>
                  <a:schemeClr val="tx1"/>
                </a:solidFill>
                <a:latin typeface="+mj-lt"/>
                <a:ea typeface="+mj-ea"/>
                <a:cs typeface="+mj-cs"/>
              </a:rPr>
              <a:t>- </a:t>
            </a:r>
            <a:r>
              <a:rPr lang="en-US" sz="1400" b="1" kern="1200" dirty="0">
                <a:solidFill>
                  <a:schemeClr val="tx1"/>
                </a:solidFill>
                <a:latin typeface="+mj-lt"/>
                <a:ea typeface="+mj-ea"/>
                <a:cs typeface="+mj-cs"/>
              </a:rPr>
              <a:t>The Reality:</a:t>
            </a:r>
            <a:r>
              <a:rPr lang="en-US" sz="1400" kern="1200" dirty="0">
                <a:solidFill>
                  <a:schemeClr val="tx1"/>
                </a:solidFill>
                <a:latin typeface="+mj-lt"/>
                <a:ea typeface="+mj-ea"/>
                <a:cs typeface="+mj-cs"/>
              </a:rPr>
              <a:t> The defining factor wasn't just status—it was ship geometry. A 1st-class ticket bought premium real estate directly below the Boat Deck.</a:t>
            </a:r>
            <a:br>
              <a:rPr lang="en-US" sz="1400" kern="1200" dirty="0">
                <a:solidFill>
                  <a:schemeClr val="tx1"/>
                </a:solidFill>
                <a:latin typeface="+mj-lt"/>
                <a:ea typeface="+mj-ea"/>
                <a:cs typeface="+mj-cs"/>
              </a:rPr>
            </a:br>
            <a:endParaRPr lang="en-US" sz="1400" kern="1200" dirty="0">
              <a:solidFill>
                <a:schemeClr val="tx1"/>
              </a:solidFill>
              <a:latin typeface="+mj-lt"/>
              <a:ea typeface="+mj-ea"/>
              <a:cs typeface="+mj-cs"/>
            </a:endParaRPr>
          </a:p>
        </p:txBody>
      </p:sp>
      <p:grpSp>
        <p:nvGrpSpPr>
          <p:cNvPr id="12" name="Group 11">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Obraz 4" descr="Obraz zawierający zrzut ekranu, tekst, diagram, Wykres&#10;&#10;Opis wygenerowany automatycznie">
            <a:extLst>
              <a:ext uri="{FF2B5EF4-FFF2-40B4-BE49-F238E27FC236}">
                <a16:creationId xmlns:a16="http://schemas.microsoft.com/office/drawing/2014/main" id="{E0F2C3AD-B778-34B9-81B5-E83264F52266}"/>
              </a:ext>
            </a:extLst>
          </p:cNvPr>
          <p:cNvPicPr>
            <a:picLocks noChangeAspect="1"/>
          </p:cNvPicPr>
          <p:nvPr/>
        </p:nvPicPr>
        <p:blipFill>
          <a:blip r:embed="rId2"/>
          <a:stretch>
            <a:fillRect/>
          </a:stretch>
        </p:blipFill>
        <p:spPr>
          <a:xfrm>
            <a:off x="5922492" y="1607342"/>
            <a:ext cx="5536001" cy="3584563"/>
          </a:xfrm>
          <a:prstGeom prst="rect">
            <a:avLst/>
          </a:prstGeom>
        </p:spPr>
      </p:pic>
    </p:spTree>
    <p:extLst>
      <p:ext uri="{BB962C8B-B14F-4D97-AF65-F5344CB8AC3E}">
        <p14:creationId xmlns:p14="http://schemas.microsoft.com/office/powerpoint/2010/main" val="3230144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FC4BAF8-65D7-F4E7-590C-E3E00AD8E540}"/>
              </a:ext>
            </a:extLst>
          </p:cNvPr>
          <p:cNvSpPr>
            <a:spLocks noGrp="1"/>
          </p:cNvSpPr>
          <p:nvPr>
            <p:ph type="title"/>
          </p:nvPr>
        </p:nvSpPr>
        <p:spPr>
          <a:xfrm>
            <a:off x="876693" y="741391"/>
            <a:ext cx="3455821" cy="1616203"/>
          </a:xfrm>
        </p:spPr>
        <p:txBody>
          <a:bodyPr anchor="b">
            <a:normAutofit/>
          </a:bodyPr>
          <a:lstStyle/>
          <a:p>
            <a:r>
              <a:rPr lang="pl-PL" sz="3200" dirty="0"/>
              <a:t>Micro-</a:t>
            </a:r>
            <a:r>
              <a:rPr lang="pl-PL" sz="3200" dirty="0" err="1"/>
              <a:t>Economics</a:t>
            </a:r>
            <a:r>
              <a:rPr lang="pl-PL" sz="3200" dirty="0"/>
              <a:t> of </a:t>
            </a:r>
            <a:r>
              <a:rPr lang="pl-PL" sz="3200" dirty="0" err="1"/>
              <a:t>Survival</a:t>
            </a:r>
            <a:r>
              <a:rPr lang="pl-PL" sz="3200" dirty="0"/>
              <a:t>: </a:t>
            </a:r>
            <a:r>
              <a:rPr lang="pl-PL" sz="3200" dirty="0" err="1"/>
              <a:t>Did</a:t>
            </a:r>
            <a:r>
              <a:rPr lang="pl-PL" sz="3200" dirty="0"/>
              <a:t> </a:t>
            </a:r>
            <a:r>
              <a:rPr lang="pl-PL" sz="3200" dirty="0" err="1"/>
              <a:t>Your</a:t>
            </a:r>
            <a:r>
              <a:rPr lang="pl-PL" sz="3200" dirty="0"/>
              <a:t> </a:t>
            </a:r>
            <a:r>
              <a:rPr lang="pl-PL" sz="3200" dirty="0" err="1"/>
              <a:t>Exact</a:t>
            </a:r>
            <a:r>
              <a:rPr lang="pl-PL" sz="3200" dirty="0"/>
              <a:t> </a:t>
            </a:r>
            <a:r>
              <a:rPr lang="pl-PL" sz="3200" dirty="0" err="1"/>
              <a:t>Fare</a:t>
            </a:r>
            <a:r>
              <a:rPr lang="pl-PL" sz="3200" dirty="0"/>
              <a:t> </a:t>
            </a:r>
            <a:r>
              <a:rPr lang="pl-PL" sz="3200" dirty="0" err="1"/>
              <a:t>Matter</a:t>
            </a:r>
            <a:r>
              <a:rPr lang="pl-PL" sz="3200" dirty="0"/>
              <a:t>?</a:t>
            </a:r>
          </a:p>
        </p:txBody>
      </p:sp>
      <p:sp>
        <p:nvSpPr>
          <p:cNvPr id="3" name="Symbol zastępczy zawartości 2">
            <a:extLst>
              <a:ext uri="{FF2B5EF4-FFF2-40B4-BE49-F238E27FC236}">
                <a16:creationId xmlns:a16="http://schemas.microsoft.com/office/drawing/2014/main" id="{9B90DC9D-9CD2-5683-72A0-991C40DE3E0B}"/>
              </a:ext>
            </a:extLst>
          </p:cNvPr>
          <p:cNvSpPr>
            <a:spLocks noGrp="1"/>
          </p:cNvSpPr>
          <p:nvPr>
            <p:ph idx="1"/>
          </p:nvPr>
        </p:nvSpPr>
        <p:spPr>
          <a:xfrm>
            <a:off x="876693" y="2533476"/>
            <a:ext cx="3455821" cy="3447832"/>
          </a:xfrm>
        </p:spPr>
        <p:txBody>
          <a:bodyPr anchor="t">
            <a:noAutofit/>
          </a:bodyPr>
          <a:lstStyle/>
          <a:p>
            <a:r>
              <a:rPr lang="pl-PL" sz="1300" b="1" dirty="0"/>
              <a:t>The "</a:t>
            </a:r>
            <a:r>
              <a:rPr lang="pl-PL" sz="1300" b="1" dirty="0" err="1"/>
              <a:t>Hidden</a:t>
            </a:r>
            <a:r>
              <a:rPr lang="pl-PL" sz="1300" b="1" dirty="0"/>
              <a:t> </a:t>
            </a:r>
            <a:r>
              <a:rPr lang="pl-PL" sz="1300" b="1" dirty="0" err="1"/>
              <a:t>Wealth</a:t>
            </a:r>
            <a:r>
              <a:rPr lang="pl-PL" sz="1300" b="1" dirty="0"/>
              <a:t>" Trend:</a:t>
            </a:r>
            <a:r>
              <a:rPr lang="pl-PL" sz="1300" dirty="0"/>
              <a:t> We </a:t>
            </a:r>
            <a:r>
              <a:rPr lang="pl-PL" sz="1300" dirty="0" err="1"/>
              <a:t>established</a:t>
            </a:r>
            <a:r>
              <a:rPr lang="pl-PL" sz="1300" dirty="0"/>
              <a:t> </a:t>
            </a:r>
            <a:r>
              <a:rPr lang="pl-PL" sz="1300" dirty="0" err="1"/>
              <a:t>that</a:t>
            </a:r>
            <a:r>
              <a:rPr lang="pl-PL" sz="1300" dirty="0"/>
              <a:t> </a:t>
            </a:r>
            <a:r>
              <a:rPr lang="pl-PL" sz="1300" dirty="0" err="1"/>
              <a:t>passenger</a:t>
            </a:r>
            <a:r>
              <a:rPr lang="pl-PL" sz="1300" dirty="0"/>
              <a:t> </a:t>
            </a:r>
            <a:r>
              <a:rPr lang="pl-PL" sz="1300" dirty="0" err="1"/>
              <a:t>class</a:t>
            </a:r>
            <a:r>
              <a:rPr lang="pl-PL" sz="1300" dirty="0"/>
              <a:t> </a:t>
            </a:r>
            <a:r>
              <a:rPr lang="pl-PL" sz="1300" dirty="0" err="1"/>
              <a:t>dictated</a:t>
            </a:r>
            <a:r>
              <a:rPr lang="pl-PL" sz="1300" dirty="0"/>
              <a:t> </a:t>
            </a:r>
            <a:r>
              <a:rPr lang="pl-PL" sz="1300" dirty="0" err="1"/>
              <a:t>survival</a:t>
            </a:r>
            <a:r>
              <a:rPr lang="pl-PL" sz="1300" dirty="0"/>
              <a:t>. But </a:t>
            </a:r>
            <a:r>
              <a:rPr lang="pl-PL" sz="1300" dirty="0" err="1"/>
              <a:t>zooming</a:t>
            </a:r>
            <a:r>
              <a:rPr lang="pl-PL" sz="1300" dirty="0"/>
              <a:t> in, </a:t>
            </a:r>
            <a:r>
              <a:rPr lang="pl-PL" sz="1300" dirty="0" err="1"/>
              <a:t>your</a:t>
            </a:r>
            <a:r>
              <a:rPr lang="pl-PL" sz="1300" dirty="0"/>
              <a:t> </a:t>
            </a:r>
            <a:r>
              <a:rPr lang="pl-PL" sz="1300" i="1" dirty="0" err="1"/>
              <a:t>exact</a:t>
            </a:r>
            <a:r>
              <a:rPr lang="pl-PL" sz="1300" i="1" dirty="0"/>
              <a:t> </a:t>
            </a:r>
            <a:r>
              <a:rPr lang="pl-PL" sz="1300" i="1" dirty="0" err="1"/>
              <a:t>fare</a:t>
            </a:r>
            <a:r>
              <a:rPr lang="pl-PL" sz="1300" dirty="0"/>
              <a:t> </a:t>
            </a:r>
            <a:r>
              <a:rPr lang="pl-PL" sz="1300" dirty="0" err="1"/>
              <a:t>mattered</a:t>
            </a:r>
            <a:r>
              <a:rPr lang="pl-PL" sz="1300" dirty="0"/>
              <a:t> </a:t>
            </a:r>
            <a:r>
              <a:rPr lang="pl-PL" sz="1300" dirty="0" err="1"/>
              <a:t>too</a:t>
            </a:r>
            <a:r>
              <a:rPr lang="pl-PL" sz="1300" dirty="0"/>
              <a:t>. </a:t>
            </a:r>
            <a:r>
              <a:rPr lang="pl-PL" sz="1300" dirty="0" err="1"/>
              <a:t>Within</a:t>
            </a:r>
            <a:r>
              <a:rPr lang="pl-PL" sz="1300" dirty="0"/>
              <a:t> the same </a:t>
            </a:r>
            <a:r>
              <a:rPr lang="pl-PL" sz="1300" dirty="0" err="1"/>
              <a:t>class</a:t>
            </a:r>
            <a:r>
              <a:rPr lang="pl-PL" sz="1300" dirty="0"/>
              <a:t>, </a:t>
            </a:r>
            <a:r>
              <a:rPr lang="pl-PL" sz="1300" dirty="0" err="1"/>
              <a:t>survivors</a:t>
            </a:r>
            <a:r>
              <a:rPr lang="pl-PL" sz="1300" dirty="0"/>
              <a:t> </a:t>
            </a:r>
            <a:r>
              <a:rPr lang="pl-PL" sz="1300" dirty="0" err="1"/>
              <a:t>consistently</a:t>
            </a:r>
            <a:r>
              <a:rPr lang="pl-PL" sz="1300" dirty="0"/>
              <a:t> </a:t>
            </a:r>
            <a:r>
              <a:rPr lang="pl-PL" sz="1300" dirty="0" err="1"/>
              <a:t>paid</a:t>
            </a:r>
            <a:r>
              <a:rPr lang="pl-PL" sz="1300" dirty="0"/>
              <a:t> a </a:t>
            </a:r>
            <a:r>
              <a:rPr lang="pl-PL" sz="1300" dirty="0" err="1"/>
              <a:t>higher</a:t>
            </a:r>
            <a:r>
              <a:rPr lang="pl-PL" sz="1300" dirty="0"/>
              <a:t> median </a:t>
            </a:r>
            <a:r>
              <a:rPr lang="pl-PL" sz="1300" dirty="0" err="1"/>
              <a:t>ticket</a:t>
            </a:r>
            <a:r>
              <a:rPr lang="pl-PL" sz="1300" dirty="0"/>
              <a:t> </a:t>
            </a:r>
            <a:r>
              <a:rPr lang="pl-PL" sz="1300" dirty="0" err="1"/>
              <a:t>price</a:t>
            </a:r>
            <a:r>
              <a:rPr lang="pl-PL" sz="1300" dirty="0"/>
              <a:t> </a:t>
            </a:r>
            <a:r>
              <a:rPr lang="pl-PL" sz="1300" dirty="0" err="1"/>
              <a:t>than</a:t>
            </a:r>
            <a:r>
              <a:rPr lang="pl-PL" sz="1300" dirty="0"/>
              <a:t> </a:t>
            </a:r>
            <a:r>
              <a:rPr lang="pl-PL" sz="1300" dirty="0" err="1"/>
              <a:t>those</a:t>
            </a:r>
            <a:r>
              <a:rPr lang="pl-PL" sz="1300" dirty="0"/>
              <a:t> </a:t>
            </a:r>
            <a:r>
              <a:rPr lang="pl-PL" sz="1300" dirty="0" err="1"/>
              <a:t>who</a:t>
            </a:r>
            <a:r>
              <a:rPr lang="pl-PL" sz="1300" dirty="0"/>
              <a:t> </a:t>
            </a:r>
            <a:r>
              <a:rPr lang="pl-PL" sz="1300" dirty="0" err="1"/>
              <a:t>perished</a:t>
            </a:r>
            <a:r>
              <a:rPr lang="pl-PL" sz="1300" dirty="0"/>
              <a:t>.</a:t>
            </a:r>
          </a:p>
          <a:p>
            <a:r>
              <a:rPr lang="pl-PL" sz="1300" b="1" dirty="0"/>
              <a:t>The 1st-Class </a:t>
            </a:r>
            <a:r>
              <a:rPr lang="pl-PL" sz="1300" b="1" dirty="0" err="1"/>
              <a:t>Disparity</a:t>
            </a:r>
            <a:r>
              <a:rPr lang="pl-PL" sz="1300" b="1" dirty="0"/>
              <a:t>:</a:t>
            </a:r>
            <a:r>
              <a:rPr lang="pl-PL" sz="1300" dirty="0"/>
              <a:t> First-</a:t>
            </a:r>
            <a:r>
              <a:rPr lang="pl-PL" sz="1300" dirty="0" err="1"/>
              <a:t>class</a:t>
            </a:r>
            <a:r>
              <a:rPr lang="pl-PL" sz="1300" dirty="0"/>
              <a:t> </a:t>
            </a:r>
            <a:r>
              <a:rPr lang="pl-PL" sz="1300" dirty="0" err="1"/>
              <a:t>survivors</a:t>
            </a:r>
            <a:r>
              <a:rPr lang="pl-PL" sz="1300" dirty="0"/>
              <a:t> </a:t>
            </a:r>
            <a:r>
              <a:rPr lang="pl-PL" sz="1300" dirty="0" err="1"/>
              <a:t>paid</a:t>
            </a:r>
            <a:r>
              <a:rPr lang="pl-PL" sz="1300" dirty="0"/>
              <a:t> a median </a:t>
            </a:r>
            <a:r>
              <a:rPr lang="pl-PL" sz="1300" dirty="0" err="1"/>
              <a:t>fare</a:t>
            </a:r>
            <a:r>
              <a:rPr lang="pl-PL" sz="1300" dirty="0"/>
              <a:t> of ~£75; </a:t>
            </a:r>
            <a:r>
              <a:rPr lang="pl-PL" sz="1300" dirty="0" err="1"/>
              <a:t>victims</a:t>
            </a:r>
            <a:r>
              <a:rPr lang="pl-PL" sz="1300" dirty="0"/>
              <a:t> </a:t>
            </a:r>
            <a:r>
              <a:rPr lang="pl-PL" sz="1300" dirty="0" err="1"/>
              <a:t>paid</a:t>
            </a:r>
            <a:r>
              <a:rPr lang="pl-PL" sz="1300" dirty="0"/>
              <a:t> ~£45. </a:t>
            </a:r>
            <a:r>
              <a:rPr lang="pl-PL" sz="1300" dirty="0" err="1"/>
              <a:t>That</a:t>
            </a:r>
            <a:r>
              <a:rPr lang="pl-PL" sz="1300" dirty="0"/>
              <a:t> £30 </a:t>
            </a:r>
            <a:r>
              <a:rPr lang="pl-PL" sz="1300" dirty="0" err="1"/>
              <a:t>premium</a:t>
            </a:r>
            <a:r>
              <a:rPr lang="pl-PL" sz="1300" dirty="0"/>
              <a:t> </a:t>
            </a:r>
            <a:r>
              <a:rPr lang="pl-PL" sz="1300" dirty="0" err="1"/>
              <a:t>likely</a:t>
            </a:r>
            <a:r>
              <a:rPr lang="pl-PL" sz="1300" dirty="0"/>
              <a:t> </a:t>
            </a:r>
            <a:r>
              <a:rPr lang="pl-PL" sz="1300" dirty="0" err="1"/>
              <a:t>secured</a:t>
            </a:r>
            <a:r>
              <a:rPr lang="pl-PL" sz="1300" dirty="0"/>
              <a:t> the </a:t>
            </a:r>
            <a:r>
              <a:rPr lang="pl-PL" sz="1300" dirty="0" err="1"/>
              <a:t>ultimate</a:t>
            </a:r>
            <a:r>
              <a:rPr lang="pl-PL" sz="1300" dirty="0"/>
              <a:t> </a:t>
            </a:r>
            <a:r>
              <a:rPr lang="pl-PL" sz="1300" dirty="0" err="1"/>
              <a:t>luxury</a:t>
            </a:r>
            <a:r>
              <a:rPr lang="pl-PL" sz="1300" dirty="0"/>
              <a:t>: a </a:t>
            </a:r>
            <a:r>
              <a:rPr lang="pl-PL" sz="1300" dirty="0" err="1"/>
              <a:t>cabin</a:t>
            </a:r>
            <a:r>
              <a:rPr lang="pl-PL" sz="1300" dirty="0"/>
              <a:t> </a:t>
            </a:r>
            <a:r>
              <a:rPr lang="pl-PL" sz="1300" dirty="0" err="1"/>
              <a:t>directly</a:t>
            </a:r>
            <a:r>
              <a:rPr lang="pl-PL" sz="1300" dirty="0"/>
              <a:t> </a:t>
            </a:r>
            <a:r>
              <a:rPr lang="pl-PL" sz="1300" dirty="0" err="1"/>
              <a:t>adjacent</a:t>
            </a:r>
            <a:r>
              <a:rPr lang="pl-PL" sz="1300" dirty="0"/>
              <a:t> to the grand </a:t>
            </a:r>
            <a:r>
              <a:rPr lang="pl-PL" sz="1300" dirty="0" err="1"/>
              <a:t>staircases</a:t>
            </a:r>
            <a:r>
              <a:rPr lang="pl-PL" sz="1300" dirty="0"/>
              <a:t>, </a:t>
            </a:r>
            <a:r>
              <a:rPr lang="pl-PL" sz="1300" dirty="0" err="1"/>
              <a:t>cutting</a:t>
            </a:r>
            <a:r>
              <a:rPr lang="pl-PL" sz="1300" dirty="0"/>
              <a:t> </a:t>
            </a:r>
            <a:r>
              <a:rPr lang="pl-PL" sz="1300" dirty="0" err="1"/>
              <a:t>response</a:t>
            </a:r>
            <a:r>
              <a:rPr lang="pl-PL" sz="1300" dirty="0"/>
              <a:t> </a:t>
            </a:r>
            <a:r>
              <a:rPr lang="pl-PL" sz="1300" dirty="0" err="1"/>
              <a:t>time</a:t>
            </a:r>
            <a:r>
              <a:rPr lang="pl-PL" sz="1300" dirty="0"/>
              <a:t> to </a:t>
            </a:r>
            <a:r>
              <a:rPr lang="pl-PL" sz="1300" dirty="0" err="1"/>
              <a:t>seconds</a:t>
            </a:r>
            <a:r>
              <a:rPr lang="pl-PL" sz="1300" dirty="0"/>
              <a:t>.</a:t>
            </a:r>
          </a:p>
          <a:p>
            <a:r>
              <a:rPr lang="pl-PL" sz="1300" b="1" dirty="0"/>
              <a:t>The </a:t>
            </a:r>
            <a:r>
              <a:rPr lang="pl-PL" sz="1300" b="1" dirty="0" err="1"/>
              <a:t>Steerage</a:t>
            </a:r>
            <a:r>
              <a:rPr lang="pl-PL" sz="1300" b="1" dirty="0"/>
              <a:t> </a:t>
            </a:r>
            <a:r>
              <a:rPr lang="pl-PL" sz="1300" b="1" dirty="0" err="1"/>
              <a:t>Exception</a:t>
            </a:r>
            <a:r>
              <a:rPr lang="pl-PL" sz="1300" b="1" dirty="0"/>
              <a:t>:</a:t>
            </a:r>
            <a:r>
              <a:rPr lang="pl-PL" sz="1300" dirty="0"/>
              <a:t> In 3rd </a:t>
            </a:r>
            <a:r>
              <a:rPr lang="pl-PL" sz="1300" dirty="0" err="1"/>
              <a:t>class</a:t>
            </a:r>
            <a:r>
              <a:rPr lang="pl-PL" sz="1300" dirty="0"/>
              <a:t>, the median </a:t>
            </a:r>
            <a:r>
              <a:rPr lang="pl-PL" sz="1300" dirty="0" err="1"/>
              <a:t>fare</a:t>
            </a:r>
            <a:r>
              <a:rPr lang="pl-PL" sz="1300" dirty="0"/>
              <a:t> (~£8) was </a:t>
            </a:r>
            <a:r>
              <a:rPr lang="pl-PL" sz="1300" dirty="0" err="1"/>
              <a:t>identical</a:t>
            </a:r>
            <a:r>
              <a:rPr lang="pl-PL" sz="1300" dirty="0"/>
              <a:t> for </a:t>
            </a:r>
            <a:r>
              <a:rPr lang="pl-PL" sz="1300" dirty="0" err="1"/>
              <a:t>both</a:t>
            </a:r>
            <a:r>
              <a:rPr lang="pl-PL" sz="1300" dirty="0"/>
              <a:t> </a:t>
            </a:r>
            <a:r>
              <a:rPr lang="pl-PL" sz="1300" dirty="0" err="1"/>
              <a:t>survivors</a:t>
            </a:r>
            <a:r>
              <a:rPr lang="pl-PL" sz="1300" dirty="0"/>
              <a:t> and </a:t>
            </a:r>
            <a:r>
              <a:rPr lang="pl-PL" sz="1300" dirty="0" err="1"/>
              <a:t>victims</a:t>
            </a:r>
            <a:r>
              <a:rPr lang="pl-PL" sz="1300" dirty="0"/>
              <a:t>. </a:t>
            </a:r>
            <a:r>
              <a:rPr lang="pl-PL" sz="1300" dirty="0" err="1"/>
              <a:t>When</a:t>
            </a:r>
            <a:r>
              <a:rPr lang="pl-PL" sz="1300" dirty="0"/>
              <a:t> </a:t>
            </a:r>
            <a:r>
              <a:rPr lang="pl-PL" sz="1300" dirty="0" err="1"/>
              <a:t>you</a:t>
            </a:r>
            <a:r>
              <a:rPr lang="pl-PL" sz="1300" dirty="0"/>
              <a:t> </a:t>
            </a:r>
            <a:r>
              <a:rPr lang="pl-PL" sz="1300" dirty="0" err="1"/>
              <a:t>are</a:t>
            </a:r>
            <a:r>
              <a:rPr lang="pl-PL" sz="1300" dirty="0"/>
              <a:t> </a:t>
            </a:r>
            <a:r>
              <a:rPr lang="pl-PL" sz="1300" dirty="0" err="1"/>
              <a:t>trapped</a:t>
            </a:r>
            <a:r>
              <a:rPr lang="pl-PL" sz="1300" dirty="0"/>
              <a:t> </a:t>
            </a:r>
            <a:r>
              <a:rPr lang="pl-PL" sz="1300" dirty="0" err="1"/>
              <a:t>at</a:t>
            </a:r>
            <a:r>
              <a:rPr lang="pl-PL" sz="1300" dirty="0"/>
              <a:t> the </a:t>
            </a:r>
            <a:r>
              <a:rPr lang="pl-PL" sz="1300" dirty="0" err="1"/>
              <a:t>very</a:t>
            </a:r>
            <a:r>
              <a:rPr lang="pl-PL" sz="1300" dirty="0"/>
              <a:t> </a:t>
            </a:r>
            <a:r>
              <a:rPr lang="pl-PL" sz="1300" dirty="0" err="1"/>
              <a:t>bottom</a:t>
            </a:r>
            <a:r>
              <a:rPr lang="pl-PL" sz="1300" dirty="0"/>
              <a:t> of the </a:t>
            </a:r>
            <a:r>
              <a:rPr lang="pl-PL" sz="1300" dirty="0" err="1"/>
              <a:t>ship</a:t>
            </a:r>
            <a:r>
              <a:rPr lang="pl-PL" sz="1300" dirty="0"/>
              <a:t> </a:t>
            </a:r>
            <a:r>
              <a:rPr lang="pl-PL" sz="1300" dirty="0" err="1"/>
              <a:t>behind</a:t>
            </a:r>
            <a:r>
              <a:rPr lang="pl-PL" sz="1300" dirty="0"/>
              <a:t> </a:t>
            </a:r>
            <a:r>
              <a:rPr lang="pl-PL" sz="1300" dirty="0" err="1"/>
              <a:t>locked</a:t>
            </a:r>
            <a:r>
              <a:rPr lang="pl-PL" sz="1300" dirty="0"/>
              <a:t> </a:t>
            </a:r>
            <a:r>
              <a:rPr lang="pl-PL" sz="1300" dirty="0" err="1"/>
              <a:t>gates</a:t>
            </a:r>
            <a:r>
              <a:rPr lang="pl-PL" sz="1300" dirty="0"/>
              <a:t>, </a:t>
            </a:r>
            <a:r>
              <a:rPr lang="pl-PL" sz="1300" dirty="0" err="1"/>
              <a:t>paying</a:t>
            </a:r>
            <a:r>
              <a:rPr lang="pl-PL" sz="1300" dirty="0"/>
              <a:t> a </a:t>
            </a:r>
            <a:r>
              <a:rPr lang="pl-PL" sz="1300" dirty="0" err="1"/>
              <a:t>slight</a:t>
            </a:r>
            <a:r>
              <a:rPr lang="pl-PL" sz="1300" dirty="0"/>
              <a:t> </a:t>
            </a:r>
            <a:r>
              <a:rPr lang="pl-PL" sz="1300" dirty="0" err="1"/>
              <a:t>premium</a:t>
            </a:r>
            <a:r>
              <a:rPr lang="pl-PL" sz="1300" dirty="0"/>
              <a:t> </a:t>
            </a:r>
            <a:r>
              <a:rPr lang="pl-PL" sz="1300" dirty="0" err="1"/>
              <a:t>yielded</a:t>
            </a:r>
            <a:r>
              <a:rPr lang="pl-PL" sz="1300" dirty="0"/>
              <a:t> </a:t>
            </a:r>
            <a:r>
              <a:rPr lang="pl-PL" sz="1300" dirty="0" err="1"/>
              <a:t>absolutely</a:t>
            </a:r>
            <a:r>
              <a:rPr lang="pl-PL" sz="1300" dirty="0"/>
              <a:t> zero </a:t>
            </a:r>
            <a:r>
              <a:rPr lang="pl-PL" sz="1300" dirty="0" err="1"/>
              <a:t>survival</a:t>
            </a:r>
            <a:r>
              <a:rPr lang="pl-PL" sz="1300" dirty="0"/>
              <a:t> </a:t>
            </a:r>
            <a:r>
              <a:rPr lang="pl-PL" sz="1300" dirty="0" err="1"/>
              <a:t>advantage</a:t>
            </a:r>
            <a:r>
              <a:rPr lang="pl-PL" sz="1300" dirty="0"/>
              <a:t>.</a:t>
            </a:r>
          </a:p>
        </p:txBody>
      </p:sp>
      <p:pic>
        <p:nvPicPr>
          <p:cNvPr id="5" name="Obraz 4" descr="Obraz zawierający tekst, diagram, zrzut ekranu, linia&#10;&#10;Opis wygenerowany automatycznie">
            <a:extLst>
              <a:ext uri="{FF2B5EF4-FFF2-40B4-BE49-F238E27FC236}">
                <a16:creationId xmlns:a16="http://schemas.microsoft.com/office/drawing/2014/main" id="{D04FD05B-4E4A-F498-EE12-346A64F9FA48}"/>
              </a:ext>
            </a:extLst>
          </p:cNvPr>
          <p:cNvPicPr>
            <a:picLocks noChangeAspect="1"/>
          </p:cNvPicPr>
          <p:nvPr/>
        </p:nvPicPr>
        <p:blipFill>
          <a:blip r:embed="rId2"/>
          <a:stretch>
            <a:fillRect/>
          </a:stretch>
        </p:blipFill>
        <p:spPr>
          <a:xfrm>
            <a:off x="4987672" y="1389062"/>
            <a:ext cx="6389346" cy="4089185"/>
          </a:xfrm>
          <a:prstGeom prst="rect">
            <a:avLst/>
          </a:prstGeom>
        </p:spPr>
      </p:pic>
      <p:grpSp>
        <p:nvGrpSpPr>
          <p:cNvPr id="10" name="Group 9">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1" name="Rectangle 10">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83630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96614893-F353-AEF3-D8FD-0F868A35B2D4}"/>
              </a:ext>
            </a:extLst>
          </p:cNvPr>
          <p:cNvSpPr>
            <a:spLocks noGrp="1"/>
          </p:cNvSpPr>
          <p:nvPr>
            <p:ph type="title"/>
          </p:nvPr>
        </p:nvSpPr>
        <p:spPr>
          <a:xfrm>
            <a:off x="700370" y="273269"/>
            <a:ext cx="4449774" cy="5075047"/>
          </a:xfrm>
        </p:spPr>
        <p:txBody>
          <a:bodyPr vert="horz" lIns="91440" tIns="45720" rIns="91440" bIns="45720" rtlCol="0" anchor="t">
            <a:normAutofit fontScale="90000"/>
          </a:bodyPr>
          <a:lstStyle/>
          <a:p>
            <a:r>
              <a:rPr lang="en-US" sz="2800" b="1" kern="1200" dirty="0">
                <a:solidFill>
                  <a:schemeClr val="tx1"/>
                </a:solidFill>
                <a:latin typeface="+mj-lt"/>
                <a:ea typeface="+mj-ea"/>
                <a:cs typeface="+mj-cs"/>
              </a:rPr>
              <a:t>While the "Women and Children First" maritime protocol was the primary driver of survival during the Titanic disaster, the actual execution of this protocol was heavily stratified by socioeconomic status (Passenger Class).</a:t>
            </a:r>
            <a:br>
              <a:rPr lang="en-US" sz="1800" kern="1200" dirty="0">
                <a:solidFill>
                  <a:schemeClr val="tx1"/>
                </a:solidFill>
                <a:latin typeface="+mj-lt"/>
                <a:ea typeface="+mj-ea"/>
                <a:cs typeface="+mj-cs"/>
              </a:rPr>
            </a:br>
            <a:br>
              <a:rPr lang="en-US" sz="1300" kern="1200" dirty="0">
                <a:solidFill>
                  <a:schemeClr val="tx1"/>
                </a:solidFill>
                <a:latin typeface="+mj-lt"/>
                <a:ea typeface="+mj-ea"/>
                <a:cs typeface="+mj-cs"/>
              </a:rPr>
            </a:br>
            <a:r>
              <a:rPr lang="pl-PL" sz="1300" b="1" dirty="0"/>
              <a:t>The </a:t>
            </a:r>
            <a:r>
              <a:rPr lang="pl-PL" sz="1300" b="1" dirty="0" err="1"/>
              <a:t>Protocol</a:t>
            </a:r>
            <a:r>
              <a:rPr lang="pl-PL" sz="1300" b="1" dirty="0"/>
              <a:t> </a:t>
            </a:r>
            <a:r>
              <a:rPr lang="pl-PL" sz="1300" b="1" dirty="0" err="1"/>
              <a:t>Overruled</a:t>
            </a:r>
            <a:r>
              <a:rPr lang="pl-PL" sz="1300" b="1" dirty="0"/>
              <a:t> </a:t>
            </a:r>
            <a:r>
              <a:rPr lang="pl-PL" sz="1300" b="1" dirty="0" err="1"/>
              <a:t>Wealth</a:t>
            </a:r>
            <a:r>
              <a:rPr lang="pl-PL" sz="1300" b="1" dirty="0"/>
              <a:t>:</a:t>
            </a:r>
            <a:r>
              <a:rPr lang="pl-PL" sz="1300" dirty="0"/>
              <a:t> The "</a:t>
            </a:r>
            <a:r>
              <a:rPr lang="pl-PL" sz="1300" dirty="0" err="1"/>
              <a:t>Women</a:t>
            </a:r>
            <a:r>
              <a:rPr lang="pl-PL" sz="1300" dirty="0"/>
              <a:t> and </a:t>
            </a:r>
            <a:r>
              <a:rPr lang="pl-PL" sz="1300" dirty="0" err="1"/>
              <a:t>Children</a:t>
            </a:r>
            <a:r>
              <a:rPr lang="pl-PL" sz="1300" dirty="0"/>
              <a:t> First" </a:t>
            </a:r>
            <a:r>
              <a:rPr lang="pl-PL" sz="1300" dirty="0" err="1"/>
              <a:t>rule</a:t>
            </a:r>
            <a:r>
              <a:rPr lang="pl-PL" sz="1300" dirty="0"/>
              <a:t> was </a:t>
            </a:r>
            <a:r>
              <a:rPr lang="pl-PL" sz="1300" dirty="0" err="1"/>
              <a:t>strictly</a:t>
            </a:r>
            <a:r>
              <a:rPr lang="pl-PL" sz="1300" dirty="0"/>
              <a:t> </a:t>
            </a:r>
            <a:r>
              <a:rPr lang="pl-PL" sz="1300" dirty="0" err="1"/>
              <a:t>enforced</a:t>
            </a:r>
            <a:r>
              <a:rPr lang="pl-PL" sz="1300" dirty="0"/>
              <a:t>. </a:t>
            </a:r>
            <a:r>
              <a:rPr lang="pl-PL" sz="1300" dirty="0" err="1"/>
              <a:t>This</a:t>
            </a:r>
            <a:r>
              <a:rPr lang="pl-PL" sz="1300" dirty="0"/>
              <a:t> </a:t>
            </a:r>
            <a:r>
              <a:rPr lang="pl-PL" sz="1300" dirty="0" err="1"/>
              <a:t>is</a:t>
            </a:r>
            <a:r>
              <a:rPr lang="pl-PL" sz="1300" dirty="0"/>
              <a:t> </a:t>
            </a:r>
            <a:r>
              <a:rPr lang="pl-PL" sz="1300" dirty="0" err="1"/>
              <a:t>proven</a:t>
            </a:r>
            <a:r>
              <a:rPr lang="pl-PL" sz="1300" dirty="0"/>
              <a:t> by the </a:t>
            </a:r>
            <a:r>
              <a:rPr lang="pl-PL" sz="1300" dirty="0" err="1"/>
              <a:t>fact</a:t>
            </a:r>
            <a:r>
              <a:rPr lang="pl-PL" sz="1300" dirty="0"/>
              <a:t> </a:t>
            </a:r>
            <a:r>
              <a:rPr lang="pl-PL" sz="1300" dirty="0" err="1"/>
              <a:t>that</a:t>
            </a:r>
            <a:r>
              <a:rPr lang="pl-PL" sz="1300" dirty="0"/>
              <a:t> a </a:t>
            </a:r>
            <a:r>
              <a:rPr lang="pl-PL" sz="1300" dirty="0" err="1"/>
              <a:t>woman</a:t>
            </a:r>
            <a:r>
              <a:rPr lang="pl-PL" sz="1300" dirty="0"/>
              <a:t> in Third Class (~49% </a:t>
            </a:r>
            <a:r>
              <a:rPr lang="pl-PL" sz="1300" dirty="0" err="1"/>
              <a:t>survival</a:t>
            </a:r>
            <a:r>
              <a:rPr lang="pl-PL" sz="1300" dirty="0"/>
              <a:t>) </a:t>
            </a:r>
            <a:r>
              <a:rPr lang="pl-PL" sz="1300" dirty="0" err="1"/>
              <a:t>or</a:t>
            </a:r>
            <a:r>
              <a:rPr lang="pl-PL" sz="1300" dirty="0"/>
              <a:t> a </a:t>
            </a:r>
            <a:r>
              <a:rPr lang="pl-PL" sz="1300" dirty="0" err="1"/>
              <a:t>child</a:t>
            </a:r>
            <a:r>
              <a:rPr lang="pl-PL" sz="1300" dirty="0"/>
              <a:t> in Third Class (~43%) </a:t>
            </a:r>
            <a:r>
              <a:rPr lang="pl-PL" sz="1300" dirty="0" err="1"/>
              <a:t>still</a:t>
            </a:r>
            <a:r>
              <a:rPr lang="pl-PL" sz="1300" dirty="0"/>
              <a:t> </a:t>
            </a:r>
            <a:r>
              <a:rPr lang="pl-PL" sz="1300" dirty="0" err="1"/>
              <a:t>had</a:t>
            </a:r>
            <a:r>
              <a:rPr lang="pl-PL" sz="1300" dirty="0"/>
              <a:t> a </a:t>
            </a:r>
            <a:r>
              <a:rPr lang="pl-PL" sz="1300" dirty="0" err="1"/>
              <a:t>significantly</a:t>
            </a:r>
            <a:r>
              <a:rPr lang="pl-PL" sz="1300" dirty="0"/>
              <a:t> </a:t>
            </a:r>
            <a:r>
              <a:rPr lang="pl-PL" sz="1300" dirty="0" err="1"/>
              <a:t>better</a:t>
            </a:r>
            <a:r>
              <a:rPr lang="pl-PL" sz="1300" dirty="0"/>
              <a:t> </a:t>
            </a:r>
            <a:r>
              <a:rPr lang="pl-PL" sz="1300" dirty="0" err="1"/>
              <a:t>chance</a:t>
            </a:r>
            <a:r>
              <a:rPr lang="pl-PL" sz="1300" dirty="0"/>
              <a:t> of </a:t>
            </a:r>
            <a:r>
              <a:rPr lang="pl-PL" sz="1300" dirty="0" err="1"/>
              <a:t>surviving</a:t>
            </a:r>
            <a:r>
              <a:rPr lang="pl-PL" sz="1300" dirty="0"/>
              <a:t> </a:t>
            </a:r>
            <a:r>
              <a:rPr lang="pl-PL" sz="1300" dirty="0" err="1"/>
              <a:t>than</a:t>
            </a:r>
            <a:r>
              <a:rPr lang="pl-PL" sz="1300" dirty="0"/>
              <a:t> the </a:t>
            </a:r>
            <a:r>
              <a:rPr lang="pl-PL" sz="1300" dirty="0" err="1"/>
              <a:t>wealthiest</a:t>
            </a:r>
            <a:r>
              <a:rPr lang="pl-PL" sz="1300" dirty="0"/>
              <a:t> men in First Class (~35%).</a:t>
            </a:r>
            <a:br>
              <a:rPr lang="pl-PL" sz="1300" dirty="0"/>
            </a:br>
            <a:r>
              <a:rPr lang="pl-PL" sz="1300" b="1" dirty="0"/>
              <a:t>The "</a:t>
            </a:r>
            <a:r>
              <a:rPr lang="pl-PL" sz="1300" b="1" dirty="0" err="1"/>
              <a:t>Steerage</a:t>
            </a:r>
            <a:r>
              <a:rPr lang="pl-PL" sz="1300" b="1" dirty="0"/>
              <a:t>" </a:t>
            </a:r>
            <a:r>
              <a:rPr lang="pl-PL" sz="1300" b="1" dirty="0" err="1"/>
              <a:t>Penalty</a:t>
            </a:r>
            <a:r>
              <a:rPr lang="pl-PL" sz="1300" b="1" dirty="0"/>
              <a:t>:</a:t>
            </a:r>
            <a:r>
              <a:rPr lang="pl-PL" sz="1300" dirty="0"/>
              <a:t> The </a:t>
            </a:r>
            <a:r>
              <a:rPr lang="pl-PL" sz="1300" dirty="0" err="1"/>
              <a:t>advantage</a:t>
            </a:r>
            <a:r>
              <a:rPr lang="pl-PL" sz="1300" dirty="0"/>
              <a:t> of </a:t>
            </a:r>
            <a:r>
              <a:rPr lang="pl-PL" sz="1300" dirty="0" err="1"/>
              <a:t>being</a:t>
            </a:r>
            <a:r>
              <a:rPr lang="pl-PL" sz="1300" dirty="0"/>
              <a:t> a </a:t>
            </a:r>
            <a:r>
              <a:rPr lang="pl-PL" sz="1300" dirty="0" err="1"/>
              <a:t>woman</a:t>
            </a:r>
            <a:r>
              <a:rPr lang="pl-PL" sz="1300" dirty="0"/>
              <a:t> </a:t>
            </a:r>
            <a:r>
              <a:rPr lang="pl-PL" sz="1300" dirty="0" err="1"/>
              <a:t>or</a:t>
            </a:r>
            <a:r>
              <a:rPr lang="pl-PL" sz="1300" dirty="0"/>
              <a:t> </a:t>
            </a:r>
            <a:r>
              <a:rPr lang="pl-PL" sz="1300" dirty="0" err="1"/>
              <a:t>child</a:t>
            </a:r>
            <a:r>
              <a:rPr lang="pl-PL" sz="1300" dirty="0"/>
              <a:t> </a:t>
            </a:r>
            <a:r>
              <a:rPr lang="pl-PL" sz="1300" dirty="0" err="1"/>
              <a:t>severely</a:t>
            </a:r>
            <a:r>
              <a:rPr lang="pl-PL" sz="1300" dirty="0"/>
              <a:t> </a:t>
            </a:r>
            <a:r>
              <a:rPr lang="pl-PL" sz="1300" dirty="0" err="1"/>
              <a:t>diminished</a:t>
            </a:r>
            <a:r>
              <a:rPr lang="pl-PL" sz="1300" dirty="0"/>
              <a:t> for </a:t>
            </a:r>
            <a:r>
              <a:rPr lang="pl-PL" sz="1300" dirty="0" err="1"/>
              <a:t>those</a:t>
            </a:r>
            <a:r>
              <a:rPr lang="pl-PL" sz="1300" dirty="0"/>
              <a:t> </a:t>
            </a:r>
            <a:r>
              <a:rPr lang="pl-PL" sz="1300" dirty="0" err="1"/>
              <a:t>housed</a:t>
            </a:r>
            <a:r>
              <a:rPr lang="pl-PL" sz="1300" dirty="0"/>
              <a:t> in the </a:t>
            </a:r>
            <a:r>
              <a:rPr lang="pl-PL" sz="1300" dirty="0" err="1"/>
              <a:t>lower</a:t>
            </a:r>
            <a:r>
              <a:rPr lang="pl-PL" sz="1300" dirty="0"/>
              <a:t> </a:t>
            </a:r>
            <a:r>
              <a:rPr lang="pl-PL" sz="1300" dirty="0" err="1"/>
              <a:t>decks</a:t>
            </a:r>
            <a:r>
              <a:rPr lang="pl-PL" sz="1300" dirty="0"/>
              <a:t>. A </a:t>
            </a:r>
            <a:r>
              <a:rPr lang="pl-PL" sz="1300" dirty="0" err="1"/>
              <a:t>woman's</a:t>
            </a:r>
            <a:r>
              <a:rPr lang="pl-PL" sz="1300" dirty="0"/>
              <a:t> </a:t>
            </a:r>
            <a:r>
              <a:rPr lang="pl-PL" sz="1300" dirty="0" err="1"/>
              <a:t>chance</a:t>
            </a:r>
            <a:r>
              <a:rPr lang="pl-PL" sz="1300" dirty="0"/>
              <a:t> of </a:t>
            </a:r>
            <a:r>
              <a:rPr lang="pl-PL" sz="1300" dirty="0" err="1"/>
              <a:t>survival</a:t>
            </a:r>
            <a:r>
              <a:rPr lang="pl-PL" sz="1300" dirty="0"/>
              <a:t> </a:t>
            </a:r>
            <a:r>
              <a:rPr lang="pl-PL" sz="1300" dirty="0" err="1"/>
              <a:t>essentially</a:t>
            </a:r>
            <a:r>
              <a:rPr lang="pl-PL" sz="1300" dirty="0"/>
              <a:t> </a:t>
            </a:r>
            <a:r>
              <a:rPr lang="pl-PL" sz="1300" dirty="0" err="1"/>
              <a:t>halved</a:t>
            </a:r>
            <a:r>
              <a:rPr lang="pl-PL" sz="1300" dirty="0"/>
              <a:t>—</a:t>
            </a:r>
            <a:r>
              <a:rPr lang="pl-PL" sz="1300" dirty="0" err="1"/>
              <a:t>dropping</a:t>
            </a:r>
            <a:r>
              <a:rPr lang="pl-PL" sz="1300" dirty="0"/>
              <a:t> from </a:t>
            </a:r>
            <a:r>
              <a:rPr lang="pl-PL" sz="1300" dirty="0" err="1"/>
              <a:t>nearly</a:t>
            </a:r>
            <a:r>
              <a:rPr lang="pl-PL" sz="1300" dirty="0"/>
              <a:t> 98% in First Class to </a:t>
            </a:r>
            <a:r>
              <a:rPr lang="pl-PL" sz="1300" dirty="0" err="1"/>
              <a:t>just</a:t>
            </a:r>
            <a:r>
              <a:rPr lang="pl-PL" sz="1300" dirty="0"/>
              <a:t> 49% in Third Class.</a:t>
            </a:r>
            <a:br>
              <a:rPr lang="pl-PL" sz="1300" dirty="0"/>
            </a:br>
            <a:r>
              <a:rPr lang="pl-PL" sz="1300" b="1" dirty="0"/>
              <a:t>The Second-Class </a:t>
            </a:r>
            <a:r>
              <a:rPr lang="pl-PL" sz="1300" b="1" dirty="0" err="1"/>
              <a:t>Anomaly</a:t>
            </a:r>
            <a:r>
              <a:rPr lang="pl-PL" sz="1300" b="1" dirty="0"/>
              <a:t>:</a:t>
            </a:r>
            <a:r>
              <a:rPr lang="pl-PL" sz="1300" dirty="0"/>
              <a:t> The </a:t>
            </a:r>
            <a:r>
              <a:rPr lang="pl-PL" sz="1300" dirty="0" err="1"/>
              <a:t>green</a:t>
            </a:r>
            <a:r>
              <a:rPr lang="pl-PL" sz="1300" dirty="0"/>
              <a:t> </a:t>
            </a:r>
            <a:r>
              <a:rPr lang="pl-PL" sz="1300" dirty="0" err="1"/>
              <a:t>line</a:t>
            </a:r>
            <a:r>
              <a:rPr lang="pl-PL" sz="1300" dirty="0"/>
              <a:t> </a:t>
            </a:r>
            <a:r>
              <a:rPr lang="pl-PL" sz="1300" dirty="0" err="1"/>
              <a:t>reveals</a:t>
            </a:r>
            <a:r>
              <a:rPr lang="pl-PL" sz="1300" dirty="0"/>
              <a:t> a </a:t>
            </a:r>
            <a:r>
              <a:rPr lang="pl-PL" sz="1300" dirty="0" err="1"/>
              <a:t>fascinating</a:t>
            </a:r>
            <a:r>
              <a:rPr lang="pl-PL" sz="1300" dirty="0"/>
              <a:t> </a:t>
            </a:r>
            <a:r>
              <a:rPr lang="pl-PL" sz="1300" dirty="0" err="1"/>
              <a:t>historical</a:t>
            </a:r>
            <a:r>
              <a:rPr lang="pl-PL" sz="1300" dirty="0"/>
              <a:t> </a:t>
            </a:r>
            <a:r>
              <a:rPr lang="pl-PL" sz="1300" dirty="0" err="1"/>
              <a:t>threshold</a:t>
            </a:r>
            <a:r>
              <a:rPr lang="pl-PL" sz="1300" dirty="0"/>
              <a:t>: 100% of the </a:t>
            </a:r>
            <a:r>
              <a:rPr lang="pl-PL" sz="1300" dirty="0" err="1"/>
              <a:t>children</a:t>
            </a:r>
            <a:r>
              <a:rPr lang="pl-PL" sz="1300" dirty="0"/>
              <a:t> in Second Class </a:t>
            </a:r>
            <a:r>
              <a:rPr lang="pl-PL" sz="1300" dirty="0" err="1"/>
              <a:t>survived</a:t>
            </a:r>
            <a:r>
              <a:rPr lang="pl-PL" sz="1300" dirty="0"/>
              <a:t>. </a:t>
            </a:r>
            <a:r>
              <a:rPr lang="pl-PL" sz="1300" dirty="0" err="1"/>
              <a:t>This</a:t>
            </a:r>
            <a:r>
              <a:rPr lang="pl-PL" sz="1300" dirty="0"/>
              <a:t> </a:t>
            </a:r>
            <a:r>
              <a:rPr lang="pl-PL" sz="1300" dirty="0" err="1"/>
              <a:t>creates</a:t>
            </a:r>
            <a:r>
              <a:rPr lang="pl-PL" sz="1300" dirty="0"/>
              <a:t> a </a:t>
            </a:r>
            <a:r>
              <a:rPr lang="pl-PL" sz="1300" dirty="0" err="1"/>
              <a:t>sharp</a:t>
            </a:r>
            <a:r>
              <a:rPr lang="pl-PL" sz="1300" dirty="0"/>
              <a:t>, </a:t>
            </a:r>
            <a:r>
              <a:rPr lang="pl-PL" sz="1300" dirty="0" err="1"/>
              <a:t>tragic</a:t>
            </a:r>
            <a:r>
              <a:rPr lang="pl-PL" sz="1300" dirty="0"/>
              <a:t> </a:t>
            </a:r>
            <a:r>
              <a:rPr lang="pl-PL" sz="1300" dirty="0" err="1"/>
              <a:t>contrast</a:t>
            </a:r>
            <a:r>
              <a:rPr lang="pl-PL" sz="1300" dirty="0"/>
              <a:t> with Third Class, </a:t>
            </a:r>
            <a:r>
              <a:rPr lang="pl-PL" sz="1300" dirty="0" err="1"/>
              <a:t>where</a:t>
            </a:r>
            <a:r>
              <a:rPr lang="pl-PL" sz="1300" dirty="0"/>
              <a:t> </a:t>
            </a:r>
            <a:r>
              <a:rPr lang="pl-PL" sz="1300" dirty="0" err="1"/>
              <a:t>over</a:t>
            </a:r>
            <a:r>
              <a:rPr lang="pl-PL" sz="1300" dirty="0"/>
              <a:t> half the </a:t>
            </a:r>
            <a:r>
              <a:rPr lang="pl-PL" sz="1300" dirty="0" err="1"/>
              <a:t>children</a:t>
            </a:r>
            <a:r>
              <a:rPr lang="pl-PL" sz="1300" dirty="0"/>
              <a:t> </a:t>
            </a:r>
            <a:r>
              <a:rPr lang="pl-PL" sz="1300" dirty="0" err="1"/>
              <a:t>perished</a:t>
            </a:r>
            <a:r>
              <a:rPr lang="pl-PL" sz="1300" dirty="0"/>
              <a:t> </a:t>
            </a:r>
            <a:r>
              <a:rPr lang="pl-PL" sz="1300" dirty="0" err="1"/>
              <a:t>due</a:t>
            </a:r>
            <a:r>
              <a:rPr lang="pl-PL" sz="1300" dirty="0"/>
              <a:t> to </a:t>
            </a:r>
            <a:r>
              <a:rPr lang="pl-PL" sz="1300" dirty="0" err="1"/>
              <a:t>locked</a:t>
            </a:r>
            <a:r>
              <a:rPr lang="pl-PL" sz="1300" dirty="0"/>
              <a:t> </a:t>
            </a:r>
            <a:r>
              <a:rPr lang="pl-PL" sz="1300" dirty="0" err="1"/>
              <a:t>gates</a:t>
            </a:r>
            <a:r>
              <a:rPr lang="pl-PL" sz="1300" dirty="0"/>
              <a:t> and </a:t>
            </a:r>
            <a:r>
              <a:rPr lang="pl-PL" sz="1300" dirty="0" err="1"/>
              <a:t>navigating</a:t>
            </a:r>
            <a:r>
              <a:rPr lang="pl-PL" sz="1300" dirty="0"/>
              <a:t> the </a:t>
            </a:r>
            <a:r>
              <a:rPr lang="pl-PL" sz="1300" dirty="0" err="1"/>
              <a:t>deep</a:t>
            </a:r>
            <a:r>
              <a:rPr lang="pl-PL" sz="1300" dirty="0"/>
              <a:t> </a:t>
            </a:r>
            <a:r>
              <a:rPr lang="pl-PL" sz="1300" dirty="0" err="1"/>
              <a:t>lower</a:t>
            </a:r>
            <a:r>
              <a:rPr lang="pl-PL" sz="1300" dirty="0"/>
              <a:t> </a:t>
            </a:r>
            <a:r>
              <a:rPr lang="pl-PL" sz="1300" dirty="0" err="1"/>
              <a:t>decks</a:t>
            </a:r>
            <a:r>
              <a:rPr lang="pl-PL" sz="1300" dirty="0"/>
              <a:t>.</a:t>
            </a:r>
            <a:br>
              <a:rPr lang="pl-PL" sz="1300" dirty="0"/>
            </a:br>
            <a:r>
              <a:rPr lang="pl-PL" sz="1300" b="1" dirty="0"/>
              <a:t>The </a:t>
            </a:r>
            <a:r>
              <a:rPr lang="pl-PL" sz="1300" b="1" dirty="0" err="1"/>
              <a:t>Absolute</a:t>
            </a:r>
            <a:r>
              <a:rPr lang="pl-PL" sz="1300" b="1" dirty="0"/>
              <a:t> </a:t>
            </a:r>
            <a:r>
              <a:rPr lang="pl-PL" sz="1300" b="1" dirty="0" err="1"/>
              <a:t>Ceiling</a:t>
            </a:r>
            <a:r>
              <a:rPr lang="pl-PL" sz="1300" b="1" dirty="0"/>
              <a:t> for Men:</a:t>
            </a:r>
            <a:r>
              <a:rPr lang="pl-PL" sz="1300" dirty="0"/>
              <a:t> </a:t>
            </a:r>
            <a:r>
              <a:rPr lang="pl-PL" sz="1300" dirty="0" err="1"/>
              <a:t>Socioeconomic</a:t>
            </a:r>
            <a:r>
              <a:rPr lang="pl-PL" sz="1300" dirty="0"/>
              <a:t> status </a:t>
            </a:r>
            <a:r>
              <a:rPr lang="pl-PL" sz="1300" dirty="0" err="1"/>
              <a:t>provided</a:t>
            </a:r>
            <a:r>
              <a:rPr lang="pl-PL" sz="1300" dirty="0"/>
              <a:t> </a:t>
            </a:r>
            <a:r>
              <a:rPr lang="pl-PL" sz="1300" dirty="0" err="1"/>
              <a:t>only</a:t>
            </a:r>
            <a:r>
              <a:rPr lang="pl-PL" sz="1300" dirty="0"/>
              <a:t> a </a:t>
            </a:r>
            <a:r>
              <a:rPr lang="pl-PL" sz="1300" dirty="0" err="1"/>
              <a:t>marginal</a:t>
            </a:r>
            <a:r>
              <a:rPr lang="pl-PL" sz="1300" dirty="0"/>
              <a:t> </a:t>
            </a:r>
            <a:r>
              <a:rPr lang="pl-PL" sz="1300" dirty="0" err="1"/>
              <a:t>safety</a:t>
            </a:r>
            <a:r>
              <a:rPr lang="pl-PL" sz="1300" dirty="0"/>
              <a:t> net for men. </a:t>
            </a:r>
            <a:r>
              <a:rPr lang="pl-PL" sz="1300" dirty="0" err="1"/>
              <a:t>While</a:t>
            </a:r>
            <a:r>
              <a:rPr lang="pl-PL" sz="1300" dirty="0"/>
              <a:t> First Class men </a:t>
            </a:r>
            <a:r>
              <a:rPr lang="pl-PL" sz="1300" dirty="0" err="1"/>
              <a:t>fared</a:t>
            </a:r>
            <a:r>
              <a:rPr lang="pl-PL" sz="1300" dirty="0"/>
              <a:t> </a:t>
            </a:r>
            <a:r>
              <a:rPr lang="pl-PL" sz="1300" dirty="0" err="1"/>
              <a:t>better</a:t>
            </a:r>
            <a:r>
              <a:rPr lang="pl-PL" sz="1300" dirty="0"/>
              <a:t> </a:t>
            </a:r>
            <a:r>
              <a:rPr lang="pl-PL" sz="1300" dirty="0" err="1"/>
              <a:t>than</a:t>
            </a:r>
            <a:r>
              <a:rPr lang="pl-PL" sz="1300" dirty="0"/>
              <a:t> Third Class men (35% vs. 12%), </a:t>
            </a:r>
            <a:r>
              <a:rPr lang="pl-PL" sz="1300" dirty="0" err="1"/>
              <a:t>their</a:t>
            </a:r>
            <a:r>
              <a:rPr lang="pl-PL" sz="1300" dirty="0"/>
              <a:t> </a:t>
            </a:r>
            <a:r>
              <a:rPr lang="pl-PL" sz="1300" dirty="0" err="1"/>
              <a:t>overall</a:t>
            </a:r>
            <a:r>
              <a:rPr lang="pl-PL" sz="1300" dirty="0"/>
              <a:t> </a:t>
            </a:r>
            <a:r>
              <a:rPr lang="pl-PL" sz="1300" dirty="0" err="1"/>
              <a:t>survival</a:t>
            </a:r>
            <a:r>
              <a:rPr lang="pl-PL" sz="1300" dirty="0"/>
              <a:t> </a:t>
            </a:r>
            <a:r>
              <a:rPr lang="pl-PL" sz="1300" dirty="0" err="1"/>
              <a:t>remained</a:t>
            </a:r>
            <a:r>
              <a:rPr lang="pl-PL" sz="1300" dirty="0"/>
              <a:t> </a:t>
            </a:r>
            <a:r>
              <a:rPr lang="pl-PL" sz="1300" dirty="0" err="1"/>
              <a:t>exceptionally</a:t>
            </a:r>
            <a:r>
              <a:rPr lang="pl-PL" sz="1300" dirty="0"/>
              <a:t> </a:t>
            </a:r>
            <a:r>
              <a:rPr lang="pl-PL" sz="1300" dirty="0" err="1"/>
              <a:t>low</a:t>
            </a:r>
            <a:r>
              <a:rPr lang="pl-PL" sz="1300" dirty="0"/>
              <a:t> </a:t>
            </a:r>
            <a:r>
              <a:rPr lang="pl-PL" sz="1300" dirty="0" err="1"/>
              <a:t>across</a:t>
            </a:r>
            <a:r>
              <a:rPr lang="pl-PL" sz="1300" dirty="0"/>
              <a:t> the </a:t>
            </a:r>
            <a:r>
              <a:rPr lang="pl-PL" sz="1300" dirty="0" err="1"/>
              <a:t>board</a:t>
            </a:r>
            <a:r>
              <a:rPr lang="pl-PL" sz="1300" dirty="0"/>
              <a:t>, </a:t>
            </a:r>
            <a:r>
              <a:rPr lang="pl-PL" sz="1300" dirty="0" err="1"/>
              <a:t>showing</a:t>
            </a:r>
            <a:r>
              <a:rPr lang="pl-PL" sz="1300" dirty="0"/>
              <a:t> </a:t>
            </a:r>
            <a:r>
              <a:rPr lang="pl-PL" sz="1300" dirty="0" err="1"/>
              <a:t>that</a:t>
            </a:r>
            <a:r>
              <a:rPr lang="pl-PL" sz="1300" dirty="0"/>
              <a:t> men </a:t>
            </a:r>
            <a:r>
              <a:rPr lang="pl-PL" sz="1300" dirty="0" err="1"/>
              <a:t>largely</a:t>
            </a:r>
            <a:r>
              <a:rPr lang="pl-PL" sz="1300" dirty="0"/>
              <a:t> </a:t>
            </a:r>
            <a:r>
              <a:rPr lang="pl-PL" sz="1300" dirty="0" err="1"/>
              <a:t>stepped</a:t>
            </a:r>
            <a:r>
              <a:rPr lang="pl-PL" sz="1300" dirty="0"/>
              <a:t> </a:t>
            </a:r>
            <a:r>
              <a:rPr lang="pl-PL" sz="1300" dirty="0" err="1"/>
              <a:t>aside</a:t>
            </a:r>
            <a:r>
              <a:rPr lang="pl-PL" sz="1300" dirty="0"/>
              <a:t> </a:t>
            </a:r>
            <a:r>
              <a:rPr lang="pl-PL" sz="1300" dirty="0" err="1"/>
              <a:t>regardless</a:t>
            </a:r>
            <a:r>
              <a:rPr lang="pl-PL" sz="1300" dirty="0"/>
              <a:t> of </a:t>
            </a:r>
            <a:r>
              <a:rPr lang="pl-PL" sz="1300" dirty="0" err="1"/>
              <a:t>how</a:t>
            </a:r>
            <a:r>
              <a:rPr lang="pl-PL" sz="1300" dirty="0"/>
              <a:t> much </a:t>
            </a:r>
            <a:r>
              <a:rPr lang="pl-PL" sz="1300" dirty="0" err="1"/>
              <a:t>their</a:t>
            </a:r>
            <a:r>
              <a:rPr lang="pl-PL" sz="1300" dirty="0"/>
              <a:t> </a:t>
            </a:r>
            <a:r>
              <a:rPr lang="pl-PL" sz="1300" dirty="0" err="1"/>
              <a:t>ticket</a:t>
            </a:r>
            <a:r>
              <a:rPr lang="pl-PL" sz="1300" dirty="0"/>
              <a:t> </a:t>
            </a:r>
            <a:r>
              <a:rPr lang="pl-PL" sz="1300" dirty="0" err="1"/>
              <a:t>cost</a:t>
            </a:r>
            <a:r>
              <a:rPr lang="pl-PL" sz="1300" dirty="0"/>
              <a:t>.</a:t>
            </a:r>
            <a:br>
              <a:rPr lang="pl-PL" sz="1300" dirty="0"/>
            </a:br>
            <a:endParaRPr lang="en-US" sz="1300" kern="1200" dirty="0">
              <a:solidFill>
                <a:schemeClr val="tx1"/>
              </a:solidFill>
              <a:latin typeface="+mj-lt"/>
              <a:ea typeface="+mj-ea"/>
              <a:cs typeface="+mj-cs"/>
            </a:endParaRPr>
          </a:p>
        </p:txBody>
      </p:sp>
      <p:grpSp>
        <p:nvGrpSpPr>
          <p:cNvPr id="12" name="Group 11">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Obraz 4" descr="Obraz zawierający linia, tekst, Wykres, diagram&#10;&#10;Opis wygenerowany automatycznie">
            <a:extLst>
              <a:ext uri="{FF2B5EF4-FFF2-40B4-BE49-F238E27FC236}">
                <a16:creationId xmlns:a16="http://schemas.microsoft.com/office/drawing/2014/main" id="{2A3B4DF5-9889-4C80-448E-DB2E8796DF17}"/>
              </a:ext>
            </a:extLst>
          </p:cNvPr>
          <p:cNvPicPr>
            <a:picLocks noChangeAspect="1"/>
          </p:cNvPicPr>
          <p:nvPr/>
        </p:nvPicPr>
        <p:blipFill>
          <a:blip r:embed="rId2"/>
          <a:stretch>
            <a:fillRect/>
          </a:stretch>
        </p:blipFill>
        <p:spPr>
          <a:xfrm>
            <a:off x="5696152" y="1408386"/>
            <a:ext cx="5762341" cy="3831959"/>
          </a:xfrm>
          <a:prstGeom prst="rect">
            <a:avLst/>
          </a:prstGeom>
        </p:spPr>
      </p:pic>
    </p:spTree>
    <p:extLst>
      <p:ext uri="{BB962C8B-B14F-4D97-AF65-F5344CB8AC3E}">
        <p14:creationId xmlns:p14="http://schemas.microsoft.com/office/powerpoint/2010/main" val="3158654848"/>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TotalTime>
  <Words>631</Words>
  <Application>Microsoft Macintosh PowerPoint</Application>
  <PresentationFormat>Panoramiczny</PresentationFormat>
  <Paragraphs>15</Paragraphs>
  <Slides>6</Slides>
  <Notes>1</Notes>
  <HiddenSlides>0</HiddenSlides>
  <MMClips>0</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6</vt:i4>
      </vt:variant>
    </vt:vector>
  </HeadingPairs>
  <TitlesOfParts>
    <vt:vector size="10" baseType="lpstr">
      <vt:lpstr>Aptos</vt:lpstr>
      <vt:lpstr>Aptos Display</vt:lpstr>
      <vt:lpstr>Arial</vt:lpstr>
      <vt:lpstr>Motyw pakietu Office</vt:lpstr>
      <vt:lpstr>Homework 1 </vt:lpstr>
      <vt:lpstr>The Family Size Paradox: Were families safer? </vt:lpstr>
      <vt:lpstr>Survival heavily favored small, agile groups. Solo travelers lacked help and faced a low 30% survival rate, while massive families acted as fatal anchors, perishing together when they couldn't find enough lifeboat seats. The absolute "sweet spot" for survival was a small family of two to four people.</vt:lpstr>
      <vt:lpstr>Socioeconomic Status and its impact.   Hypothesis: Higher class means higher survivability.   - The Baseline: Survival favored the wealthy. 1st-class survival (63%) was nearly triple the rate of 3rd-class survival (24%). - The Reality: The defining factor wasn't just status—it was ship geometry. A 1st-class ticket bought premium real estate directly below the Boat Deck. </vt:lpstr>
      <vt:lpstr>Micro-Economics of Survival: Did Your Exact Fare Matter?</vt:lpstr>
      <vt:lpstr>While the "Women and Children First" maritime protocol was the primary driver of survival during the Titanic disaster, the actual execution of this protocol was heavily stratified by socioeconomic status (Passenger Class).  The Protocol Overruled Wealth: The "Women and Children First" rule was strictly enforced. This is proven by the fact that a woman in Third Class (~49% survival) or a child in Third Class (~43%) still had a significantly better chance of surviving than the wealthiest men in First Class (~35%). The "Steerage" Penalty: The advantage of being a woman or child severely diminished for those housed in the lower decks. A woman's chance of survival essentially halved—dropping from nearly 98% in First Class to just 49% in Third Class. The Second-Class Anomaly: The green line reveals a fascinating historical threshold: 100% of the children in Second Class survived. This creates a sharp, tragic contrast with Third Class, where over half the children perished due to locked gates and navigating the deep lower decks. The Absolute Ceiling for Men: Socioeconomic status provided only a marginal safety net for men. While First Class men fared better than Third Class men (35% vs. 12%), their overall survival remained exceptionally low across the board, showing that men largely stepped aside regardless of how much their ticket cost.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Franciszek Apanowicz</dc:creator>
  <cp:lastModifiedBy>Franciszek Apanowicz</cp:lastModifiedBy>
  <cp:revision>1</cp:revision>
  <dcterms:created xsi:type="dcterms:W3CDTF">2026-04-08T09:12:31Z</dcterms:created>
  <dcterms:modified xsi:type="dcterms:W3CDTF">2026-04-08T10:50:24Z</dcterms:modified>
</cp:coreProperties>
</file>